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1" r:id="rId5"/>
    <p:sldId id="269" r:id="rId6"/>
    <p:sldId id="268" r:id="rId7"/>
    <p:sldId id="259" r:id="rId8"/>
    <p:sldId id="270" r:id="rId9"/>
    <p:sldId id="265" r:id="rId10"/>
    <p:sldId id="266" r:id="rId11"/>
    <p:sldId id="260" r:id="rId12"/>
    <p:sldId id="267" r:id="rId13"/>
    <p:sldId id="261" r:id="rId14"/>
    <p:sldId id="263" r:id="rId15"/>
    <p:sldId id="264" r:id="rId16"/>
  </p:sldIdLst>
  <p:sldSz cx="18288000" cy="10287000"/>
  <p:notesSz cx="6858000" cy="9144000"/>
  <p:embeddedFontLst>
    <p:embeddedFont>
      <p:font typeface="Agency FB" panose="020B0503020202020204" pitchFamily="34" charset="0"/>
      <p:regular r:id="rId18"/>
      <p:bold r:id="rId19"/>
    </p:embeddedFont>
    <p:embeddedFont>
      <p:font typeface="Aparajita" panose="02020603050405020304" pitchFamily="18" charset="0"/>
      <p:regular r:id="rId20"/>
      <p:bold r:id="rId21"/>
      <p:italic r:id="rId22"/>
      <p:boldItalic r:id="rId23"/>
    </p:embeddedFont>
    <p:embeddedFont>
      <p:font typeface="TT Lakes Neue" panose="020B0604020202020204" charset="0"/>
      <p:regular r:id="rId24"/>
    </p:embeddedFont>
    <p:embeddedFont>
      <p:font typeface="TT Lakes Neue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BDE"/>
    <a:srgbClr val="7071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5033" autoAdjust="0"/>
  </p:normalViewPr>
  <p:slideViewPr>
    <p:cSldViewPr>
      <p:cViewPr varScale="1">
        <p:scale>
          <a:sx n="52" d="100"/>
          <a:sy n="52" d="100"/>
        </p:scale>
        <p:origin x="81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F3A28-EE5B-424D-8ABC-1709C16E6CF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E481-5A5B-4625-8629-FF8F01AD9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9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E481-5A5B-4625-8629-FF8F01AD9F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32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E481-5A5B-4625-8629-FF8F01AD9F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44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E220-0859-5AE2-6B08-08D108F6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62591-E1FC-EA0A-B8B7-8756AC4D0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590F1-7289-802F-3599-504194661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7D513-70BB-7626-49F1-2D9B69F7D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E481-5A5B-4625-8629-FF8F01AD9F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40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E481-5A5B-4625-8629-FF8F01AD9F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0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10CD-1D5C-27D9-F1B3-1AD3B40E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C50EF-BB63-2A99-37F3-A6235A0DB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CE7B9-4C41-E139-D4DD-D56DA58CC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7B5E2-D133-BF17-AB12-79713D439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E481-5A5B-4625-8629-FF8F01AD9F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012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BE481-5A5B-4625-8629-FF8F01AD9F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9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roud-glacier-05c9fb600.7.azurestaticapps.net/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23.png"/><Relationship Id="rId7" Type="http://schemas.openxmlformats.org/officeDocument/2006/relationships/hyperlink" Target="https://codelikethis.com/lessons/client-side-coding/calling-api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epdnaclk.github.io/e22-co2060-PERA-SAM/" TargetMode="External"/><Relationship Id="rId11" Type="http://schemas.openxmlformats.org/officeDocument/2006/relationships/hyperlink" Target="https://midnightprogrammer.net/post/how-to-create-and-push-your-docker-images-to-azure-container-registry/" TargetMode="External"/><Relationship Id="rId5" Type="http://schemas.openxmlformats.org/officeDocument/2006/relationships/hyperlink" Target="https://github.com/cepdnaclk/e22-co2060-PERA-SAM" TargetMode="External"/><Relationship Id="rId10" Type="http://schemas.openxmlformats.org/officeDocument/2006/relationships/image" Target="../media/image31.png"/><Relationship Id="rId4" Type="http://schemas.openxmlformats.org/officeDocument/2006/relationships/image" Target="../media/image29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4.svg"/><Relationship Id="rId12" Type="http://schemas.openxmlformats.org/officeDocument/2006/relationships/hyperlink" Target="https://www.thecn.com/PT94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11" Type="http://schemas.openxmlformats.org/officeDocument/2006/relationships/hyperlink" Target="https://www.thecn.com/DK949" TargetMode="External"/><Relationship Id="rId5" Type="http://schemas.openxmlformats.org/officeDocument/2006/relationships/image" Target="../media/image3.svg"/><Relationship Id="rId10" Type="http://schemas.openxmlformats.org/officeDocument/2006/relationships/hyperlink" Target="https://www.thecn.com/DS1883" TargetMode="External"/><Relationship Id="rId4" Type="http://schemas.openxmlformats.org/officeDocument/2006/relationships/image" Target="../media/image7.svg"/><Relationship Id="rId9" Type="http://schemas.openxmlformats.org/officeDocument/2006/relationships/hyperlink" Target="https://www.thecn.com/KK1842" TargetMode="External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86BA4D-71C0-81DA-C8C7-9C3A1C3AAF24}"/>
              </a:ext>
            </a:extLst>
          </p:cNvPr>
          <p:cNvGrpSpPr/>
          <p:nvPr/>
        </p:nvGrpSpPr>
        <p:grpSpPr>
          <a:xfrm>
            <a:off x="4962326" y="4646462"/>
            <a:ext cx="10930794" cy="1733551"/>
            <a:chOff x="4946908" y="4297538"/>
            <a:chExt cx="10930794" cy="1733551"/>
          </a:xfrm>
        </p:grpSpPr>
        <p:sp>
          <p:nvSpPr>
            <p:cNvPr id="8" name="TextBox 8"/>
            <p:cNvSpPr txBox="1"/>
            <p:nvPr/>
          </p:nvSpPr>
          <p:spPr>
            <a:xfrm>
              <a:off x="9868361" y="4303414"/>
              <a:ext cx="6009341" cy="1723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038"/>
                </a:lnSpc>
                <a:spcBef>
                  <a:spcPct val="0"/>
                </a:spcBef>
              </a:pPr>
              <a:r>
                <a:rPr lang="en-US" sz="12300" b="1" dirty="0">
                  <a:solidFill>
                    <a:srgbClr val="FFFFFF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  <a:reflection blurRad="6350" stA="50000" endA="300" endPos="50000" dist="60007" dir="5400000" sy="-100000" algn="bl" rotWithShape="0"/>
                  </a:effectLst>
                  <a:latin typeface="TT Lakes Neue Bold"/>
                  <a:ea typeface="TT Lakes Neue Bold"/>
                  <a:cs typeface="TT Lakes Neue Bold"/>
                  <a:sym typeface="TT Lakes Neue Bold"/>
                </a:rPr>
                <a:t>SAM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46908" y="4297538"/>
              <a:ext cx="4921454" cy="1733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  <a:scene3d>
                <a:camera prst="orthographicFront"/>
                <a:lightRig rig="chilly" dir="t"/>
              </a:scene3d>
            </a:bodyPr>
            <a:lstStyle/>
            <a:p>
              <a:pPr algn="l">
                <a:lnSpc>
                  <a:spcPts val="13050"/>
                </a:lnSpc>
                <a:spcBef>
                  <a:spcPct val="0"/>
                </a:spcBef>
              </a:pPr>
              <a:r>
                <a:rPr lang="en-US" sz="12311" b="1" dirty="0">
                  <a:solidFill>
                    <a:srgbClr val="84E3F8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  <a:reflection blurRad="6350" stA="50000" endA="300" endPos="50000" dist="60007" dir="5400000" sy="-100000" algn="bl" rotWithShape="0"/>
                  </a:effectLst>
                  <a:latin typeface="TT Lakes Neue Bold"/>
                  <a:ea typeface="TT Lakes Neue Bold"/>
                  <a:cs typeface="TT Lakes Neue Bold"/>
                  <a:sym typeface="TT Lakes Neue Bold"/>
                </a:rPr>
                <a:t>PERA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745832-3D5B-F899-DEF3-E274FFD7CA7D}"/>
              </a:ext>
            </a:extLst>
          </p:cNvPr>
          <p:cNvGrpSpPr/>
          <p:nvPr/>
        </p:nvGrpSpPr>
        <p:grpSpPr>
          <a:xfrm>
            <a:off x="522700" y="397466"/>
            <a:ext cx="2677700" cy="742265"/>
            <a:chOff x="1711939" y="1306549"/>
            <a:chExt cx="2677700" cy="742265"/>
          </a:xfrm>
        </p:grpSpPr>
        <p:sp>
          <p:nvSpPr>
            <p:cNvPr id="4" name="Freeform 4"/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effectLst>
              <a:reflection blurRad="6350" stA="52000" endA="300" endPos="35000" dir="5400000" sy="-100000" algn="bl" rotWithShape="0"/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71600" y="1560342"/>
              <a:ext cx="1718039" cy="294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FFFFFF"/>
                  </a:solidFill>
                  <a:effectLst>
                    <a:glow rad="635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105400" y="6068797"/>
            <a:ext cx="8520600" cy="383375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716" b="1" dirty="0">
                <a:solidFill>
                  <a:srgbClr val="FFFF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TT Lakes Neue" panose="020B0604020202020204" charset="0"/>
                <a:ea typeface="Raleway Bold"/>
                <a:cs typeface="Raleway Bold"/>
                <a:sym typeface="Raleway Bold"/>
              </a:rPr>
              <a:t>Industrial Sound Analysis Manager with Acoustic AI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269DC5-5498-6F09-2BA2-9A01765B5BC7}"/>
              </a:ext>
            </a:extLst>
          </p:cNvPr>
          <p:cNvGrpSpPr/>
          <p:nvPr/>
        </p:nvGrpSpPr>
        <p:grpSpPr>
          <a:xfrm>
            <a:off x="522700" y="8515090"/>
            <a:ext cx="5753456" cy="1374444"/>
            <a:chOff x="1676400" y="8693725"/>
            <a:chExt cx="5296256" cy="824350"/>
          </a:xfrm>
        </p:grpSpPr>
        <p:sp>
          <p:nvSpPr>
            <p:cNvPr id="11" name="TextBox 11"/>
            <p:cNvSpPr txBox="1"/>
            <p:nvPr/>
          </p:nvSpPr>
          <p:spPr>
            <a:xfrm>
              <a:off x="2189985" y="9105900"/>
              <a:ext cx="2382045" cy="129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73"/>
                </a:lnSpc>
                <a:spcBef>
                  <a:spcPct val="0"/>
                </a:spcBef>
              </a:pPr>
              <a:r>
                <a:rPr lang="en-US" sz="1600" dirty="0">
                  <a:solidFill>
                    <a:srgbClr val="FFFFFF"/>
                  </a:solidFill>
                  <a:effectLst>
                    <a:glow rad="63500">
                      <a:schemeClr val="accent1">
                        <a:satMod val="175000"/>
                        <a:alpha val="40000"/>
                      </a:schemeClr>
                    </a:glow>
                  </a:effectLst>
                  <a:latin typeface="TT Lakes Neue"/>
                  <a:ea typeface="TT Lakes Neue"/>
                  <a:cs typeface="TT Lakes Neue"/>
                  <a:sym typeface="TT Lakes Neue"/>
                </a:rPr>
                <a:t>Team : Invictus | Team 29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0B7B297-C0C7-257A-D995-747C53FA2DBF}"/>
                </a:ext>
              </a:extLst>
            </p:cNvPr>
            <p:cNvGrpSpPr/>
            <p:nvPr/>
          </p:nvGrpSpPr>
          <p:grpSpPr>
            <a:xfrm>
              <a:off x="1676400" y="8693725"/>
              <a:ext cx="5296256" cy="824350"/>
              <a:chOff x="1676400" y="8675736"/>
              <a:chExt cx="5296256" cy="824350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1676400" y="8675736"/>
                <a:ext cx="5296256" cy="824350"/>
                <a:chOff x="0" y="0"/>
                <a:chExt cx="1538631" cy="239484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0" y="0"/>
                  <a:ext cx="1426457" cy="2109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8631" h="239484">
                      <a:moveTo>
                        <a:pt x="1335431" y="0"/>
                      </a:moveTo>
                      <a:cubicBezTo>
                        <a:pt x="1447655" y="0"/>
                        <a:pt x="1538631" y="53610"/>
                        <a:pt x="1538631" y="119742"/>
                      </a:cubicBezTo>
                      <a:cubicBezTo>
                        <a:pt x="1538631" y="185874"/>
                        <a:pt x="1447655" y="239484"/>
                        <a:pt x="1335431" y="239484"/>
                      </a:cubicBezTo>
                      <a:lnTo>
                        <a:pt x="203200" y="239484"/>
                      </a:lnTo>
                      <a:cubicBezTo>
                        <a:pt x="90976" y="239484"/>
                        <a:pt x="0" y="185874"/>
                        <a:pt x="0" y="119742"/>
                      </a:cubicBezTo>
                      <a:cubicBezTo>
                        <a:pt x="0" y="53610"/>
                        <a:pt x="90976" y="0"/>
                        <a:pt x="203200" y="0"/>
                      </a:cubicBezTo>
                      <a:close/>
                    </a:path>
                  </a:pathLst>
                </a:custGeom>
                <a:ln w="19050" cap="sq">
                  <a:solidFill>
                    <a:srgbClr val="84E3F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0" y="28575"/>
                  <a:ext cx="1538631" cy="210909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067"/>
                    </a:lnSpc>
                  </a:pPr>
                  <a:endParaRPr/>
                </a:p>
              </p:txBody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2174745" y="8893244"/>
                <a:ext cx="4569414" cy="12921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573"/>
                  </a:lnSpc>
                  <a:spcBef>
                    <a:spcPct val="0"/>
                  </a:spcBef>
                </a:pPr>
                <a:r>
                  <a:rPr lang="en-US" sz="1600" dirty="0">
                    <a:solidFill>
                      <a:srgbClr val="FFFFFF"/>
                    </a:solidFill>
                    <a:effectLst>
                      <a:glow rad="63500">
                        <a:schemeClr val="accent1">
                          <a:satMod val="175000"/>
                          <a:alpha val="40000"/>
                        </a:schemeClr>
                      </a:glow>
                    </a:effectLst>
                    <a:latin typeface="TT Lakes Neue"/>
                    <a:ea typeface="TT Lakes Neue"/>
                    <a:cs typeface="TT Lakes Neue"/>
                    <a:sym typeface="TT Lakes Neue"/>
                  </a:rPr>
                  <a:t>CO 2060 : Software Systems Design Project</a:t>
                </a:r>
              </a:p>
            </p:txBody>
          </p:sp>
        </p:grpSp>
      </p:grpSp>
      <p:sp>
        <p:nvSpPr>
          <p:cNvPr id="3" name="Freeform 3"/>
          <p:cNvSpPr/>
          <p:nvPr/>
        </p:nvSpPr>
        <p:spPr>
          <a:xfrm rot="13984615">
            <a:off x="-1696451" y="-2907574"/>
            <a:ext cx="5922833" cy="5815145"/>
          </a:xfrm>
          <a:custGeom>
            <a:avLst/>
            <a:gdLst/>
            <a:ahLst/>
            <a:cxnLst/>
            <a:rect l="l" t="t" r="r" b="b"/>
            <a:pathLst>
              <a:path w="5922833" h="5815145">
                <a:moveTo>
                  <a:pt x="0" y="0"/>
                </a:moveTo>
                <a:lnTo>
                  <a:pt x="5922833" y="0"/>
                </a:lnTo>
                <a:lnTo>
                  <a:pt x="5922833" y="5815145"/>
                </a:lnTo>
                <a:lnTo>
                  <a:pt x="0" y="5815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3559540"/>
            <a:ext cx="18288000" cy="4854633"/>
          </a:xfrm>
          <a:custGeom>
            <a:avLst/>
            <a:gdLst/>
            <a:ahLst/>
            <a:cxnLst/>
            <a:rect l="l" t="t" r="r" b="b"/>
            <a:pathLst>
              <a:path w="18288000" h="4854633">
                <a:moveTo>
                  <a:pt x="0" y="0"/>
                </a:moveTo>
                <a:lnTo>
                  <a:pt x="18288000" y="0"/>
                </a:lnTo>
                <a:lnTo>
                  <a:pt x="18288000" y="4854632"/>
                </a:lnTo>
                <a:lnTo>
                  <a:pt x="0" y="4854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178232" y="3467100"/>
            <a:ext cx="18847231" cy="5029200"/>
            <a:chOff x="0" y="-15709"/>
            <a:chExt cx="4907931" cy="1294295"/>
          </a:xfrm>
        </p:grpSpPr>
        <p:sp>
          <p:nvSpPr>
            <p:cNvPr id="5" name="Freeform 5"/>
            <p:cNvSpPr/>
            <p:nvPr/>
          </p:nvSpPr>
          <p:spPr>
            <a:xfrm>
              <a:off x="0" y="-15709"/>
              <a:ext cx="4907931" cy="1278586"/>
            </a:xfrm>
            <a:custGeom>
              <a:avLst/>
              <a:gdLst/>
              <a:ahLst/>
              <a:cxnLst/>
              <a:rect l="l" t="t" r="r" b="b"/>
              <a:pathLst>
                <a:path w="4907931" h="1278586">
                  <a:moveTo>
                    <a:pt x="0" y="0"/>
                  </a:moveTo>
                  <a:lnTo>
                    <a:pt x="4907931" y="0"/>
                  </a:lnTo>
                  <a:lnTo>
                    <a:pt x="4907931" y="1278586"/>
                  </a:lnTo>
                  <a:lnTo>
                    <a:pt x="0" y="1278586"/>
                  </a:lnTo>
                  <a:close/>
                </a:path>
              </a:pathLst>
            </a:custGeom>
            <a:gradFill rotWithShape="1">
              <a:gsLst>
                <a:gs pos="0">
                  <a:srgbClr val="131F40">
                    <a:alpha val="83000"/>
                  </a:srgbClr>
                </a:gs>
                <a:gs pos="100000">
                  <a:srgbClr val="3D6D81">
                    <a:alpha val="83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4907931" cy="1250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1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800410" y="4089814"/>
            <a:ext cx="3794085" cy="3794085"/>
          </a:xfrm>
          <a:custGeom>
            <a:avLst/>
            <a:gdLst/>
            <a:ahLst/>
            <a:cxnLst/>
            <a:rect l="l" t="t" r="r" b="b"/>
            <a:pathLst>
              <a:path w="3794085" h="3794085">
                <a:moveTo>
                  <a:pt x="0" y="0"/>
                </a:moveTo>
                <a:lnTo>
                  <a:pt x="3794085" y="0"/>
                </a:lnTo>
                <a:lnTo>
                  <a:pt x="3794085" y="3794085"/>
                </a:lnTo>
                <a:lnTo>
                  <a:pt x="0" y="3794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987665" y="2163114"/>
            <a:ext cx="3565786" cy="1167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6"/>
              </a:lnSpc>
              <a:spcBef>
                <a:spcPct val="0"/>
              </a:spcBef>
            </a:pPr>
            <a:r>
              <a:rPr lang="en-US" sz="8430" b="1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SAM 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18279" y="2163114"/>
            <a:ext cx="4335991" cy="116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36"/>
              </a:lnSpc>
              <a:spcBef>
                <a:spcPct val="0"/>
              </a:spcBef>
            </a:pPr>
            <a:r>
              <a:rPr lang="en-US" sz="8430" b="1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WHY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720" y="3892604"/>
            <a:ext cx="12007972" cy="243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3000" b="1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PROBLEM: </a:t>
            </a:r>
          </a:p>
          <a:p>
            <a:pPr algn="l">
              <a:lnSpc>
                <a:spcPts val="2120"/>
              </a:lnSpc>
            </a:pPr>
            <a:endParaRPr lang="en-US" sz="3000" b="1">
              <a:solidFill>
                <a:srgbClr val="84E3F8"/>
              </a:solidFill>
              <a:latin typeface="TT Lakes Neue Bold"/>
              <a:ea typeface="TT Lakes Neue Bold"/>
              <a:cs typeface="TT Lakes Neue Bold"/>
              <a:sym typeface="TT Lakes Neue Bold"/>
            </a:endParaRPr>
          </a:p>
          <a:p>
            <a:pPr marL="432019" lvl="1" indent="-216010" algn="just">
              <a:lnSpc>
                <a:spcPts val="2121"/>
              </a:lnSpc>
              <a:buFont typeface="Arial"/>
              <a:buChar char="•"/>
            </a:pPr>
            <a:r>
              <a:rPr lang="en-US" sz="200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Machines such as laptop/PC cooling fans, vehicle engines, pumps, and industrial assets often fail without early warning. Traditional maintenance is usually reactive (repair after failure), which can cause overheating, downtime, and higher repair cost. </a:t>
            </a:r>
          </a:p>
          <a:p>
            <a:pPr algn="l">
              <a:lnSpc>
                <a:spcPts val="3816"/>
              </a:lnSpc>
            </a:pPr>
            <a:endParaRPr lang="en-US" sz="200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816"/>
              </a:lnSpc>
              <a:spcBef>
                <a:spcPct val="0"/>
              </a:spcBef>
            </a:pPr>
            <a:endParaRPr lang="en-US" sz="200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9720" y="5836361"/>
            <a:ext cx="3523234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  <a:spcBef>
                <a:spcPct val="0"/>
              </a:spcBef>
            </a:pPr>
            <a:r>
              <a:rPr lang="en-US" sz="3000" b="1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TARGET USERS:</a:t>
            </a:r>
          </a:p>
          <a:p>
            <a:pPr algn="l">
              <a:lnSpc>
                <a:spcPts val="3180"/>
              </a:lnSpc>
              <a:spcBef>
                <a:spcPct val="0"/>
              </a:spcBef>
            </a:pPr>
            <a:endParaRPr lang="en-US" sz="3000" b="1">
              <a:solidFill>
                <a:srgbClr val="84E3F8"/>
              </a:solidFill>
              <a:latin typeface="TT Lakes Neue Bold"/>
              <a:ea typeface="TT Lakes Neue Bold"/>
              <a:cs typeface="TT Lakes Neue Bold"/>
              <a:sym typeface="TT Lakes Neu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59720" y="6332543"/>
            <a:ext cx="6936532" cy="135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1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Laptop/PC users </a:t>
            </a:r>
          </a:p>
          <a:p>
            <a:pPr marL="431801" lvl="1" indent="-215900" algn="l">
              <a:lnSpc>
                <a:spcPts val="21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technicians (data center / office PC maintenance) </a:t>
            </a:r>
          </a:p>
          <a:p>
            <a:pPr marL="431801" lvl="1" indent="-215900" algn="l">
              <a:lnSpc>
                <a:spcPts val="21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technicians (industrial machines) </a:t>
            </a:r>
          </a:p>
          <a:p>
            <a:pPr marL="431801" lvl="1" indent="-215900" algn="l">
              <a:lnSpc>
                <a:spcPts val="21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Fleet/asset managers (vehicles, factories)</a:t>
            </a:r>
          </a:p>
          <a:p>
            <a:pPr marL="431801" lvl="1" indent="-215900" algn="l">
              <a:lnSpc>
                <a:spcPts val="212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Sound engineers.</a:t>
            </a: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CC5F0B90-D4B8-E267-D80A-E0CE703D59CB}"/>
              </a:ext>
            </a:extLst>
          </p:cNvPr>
          <p:cNvSpPr/>
          <p:nvPr/>
        </p:nvSpPr>
        <p:spPr>
          <a:xfrm>
            <a:off x="1" y="28269"/>
            <a:ext cx="18288000" cy="10258732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78B5A3-78AC-1734-4682-678BFD94C2C6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6B261623-38AE-935C-133F-5F89D5A46309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5A862069-BD88-729E-55FC-DCCEEFD19BF8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6598073" y="2057633"/>
            <a:ext cx="7040848" cy="64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463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WHAT WE COMPLETED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5058" y="1362366"/>
            <a:ext cx="6629044" cy="847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2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PROGRESS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7AA3444-E8D4-F1DD-207C-40E995A2F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6" b="6614"/>
          <a:stretch>
            <a:fillRect/>
          </a:stretch>
        </p:blipFill>
        <p:spPr>
          <a:xfrm>
            <a:off x="1218226" y="2880592"/>
            <a:ext cx="15851548" cy="6655311"/>
          </a:xfrm>
          <a:prstGeom prst="roundRect">
            <a:avLst>
              <a:gd name="adj" fmla="val 17641"/>
            </a:avLst>
          </a:prstGeom>
        </p:spPr>
      </p:pic>
      <p:sp>
        <p:nvSpPr>
          <p:cNvPr id="22" name="Freeform 2">
            <a:extLst>
              <a:ext uri="{FF2B5EF4-FFF2-40B4-BE49-F238E27FC236}">
                <a16:creationId xmlns:a16="http://schemas.microsoft.com/office/drawing/2014/main" id="{79574328-DF6B-4BDF-4BCE-EE3D6CD3AB0B}"/>
              </a:ext>
            </a:extLst>
          </p:cNvPr>
          <p:cNvSpPr/>
          <p:nvPr/>
        </p:nvSpPr>
        <p:spPr>
          <a:xfrm>
            <a:off x="-9832" y="0"/>
            <a:ext cx="18456571" cy="10431901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2238889-DDD0-A6C2-2A7A-41FE15465303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A1EA3D85-99C6-FC86-1E2E-62130CE88905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FA00DA7B-B592-0D55-E001-88A1D316AC3D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C9F50-57CE-953B-5265-9DB92888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0E31042D-F89D-8536-BC80-D98D51D75CA0}"/>
              </a:ext>
            </a:extLst>
          </p:cNvPr>
          <p:cNvSpPr/>
          <p:nvPr/>
        </p:nvSpPr>
        <p:spPr>
          <a:xfrm>
            <a:off x="-80081" y="-72451"/>
            <a:ext cx="18456571" cy="10431901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8A7E502-8EE4-7566-02A7-C892FA7BBF6E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40" name="Freeform 4">
              <a:extLst>
                <a:ext uri="{FF2B5EF4-FFF2-40B4-BE49-F238E27FC236}">
                  <a16:creationId xmlns:a16="http://schemas.microsoft.com/office/drawing/2014/main" id="{26283337-7BD0-B2A6-5F95-7560C905923E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E140AA1E-4D96-1554-DF6D-4BAFCCCF3D80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3C6294-0937-6E43-7814-B952BAB6C1DF}"/>
              </a:ext>
            </a:extLst>
          </p:cNvPr>
          <p:cNvGrpSpPr/>
          <p:nvPr/>
        </p:nvGrpSpPr>
        <p:grpSpPr>
          <a:xfrm>
            <a:off x="4724400" y="1649889"/>
            <a:ext cx="9753600" cy="883182"/>
            <a:chOff x="4267200" y="1177905"/>
            <a:chExt cx="9753600" cy="883182"/>
          </a:xfrm>
        </p:grpSpPr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9B6FE46-F7C9-E925-8090-6E0E69181B20}"/>
                </a:ext>
              </a:extLst>
            </p:cNvPr>
            <p:cNvSpPr txBox="1"/>
            <p:nvPr/>
          </p:nvSpPr>
          <p:spPr>
            <a:xfrm>
              <a:off x="4267200" y="1177905"/>
              <a:ext cx="6629044" cy="847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92"/>
                </a:lnSpc>
                <a:spcBef>
                  <a:spcPct val="0"/>
                </a:spcBef>
              </a:pPr>
              <a:r>
                <a:rPr lang="en-US" sz="5400" b="1" dirty="0">
                  <a:solidFill>
                    <a:srgbClr val="84E3F8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MVP LIVE </a:t>
              </a:r>
            </a:p>
          </p:txBody>
        </p:sp>
        <p:sp>
          <p:nvSpPr>
            <p:cNvPr id="2" name="TextBox 11">
              <a:extLst>
                <a:ext uri="{FF2B5EF4-FFF2-40B4-BE49-F238E27FC236}">
                  <a16:creationId xmlns:a16="http://schemas.microsoft.com/office/drawing/2014/main" id="{BBBA803E-8065-DBF5-E84A-403511516488}"/>
                </a:ext>
              </a:extLst>
            </p:cNvPr>
            <p:cNvSpPr txBox="1"/>
            <p:nvPr/>
          </p:nvSpPr>
          <p:spPr>
            <a:xfrm>
              <a:off x="7391756" y="1213547"/>
              <a:ext cx="6629044" cy="847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92"/>
                </a:lnSpc>
                <a:spcBef>
                  <a:spcPct val="0"/>
                </a:spcBef>
              </a:pPr>
              <a:r>
                <a:rPr lang="en-US" sz="5400" b="1" dirty="0">
                  <a:solidFill>
                    <a:schemeClr val="bg1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DEMO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C59C69A-9278-FC04-3495-F57ACBD09199}"/>
              </a:ext>
            </a:extLst>
          </p:cNvPr>
          <p:cNvGrpSpPr/>
          <p:nvPr/>
        </p:nvGrpSpPr>
        <p:grpSpPr>
          <a:xfrm>
            <a:off x="2036580" y="3275801"/>
            <a:ext cx="5659620" cy="5372899"/>
            <a:chOff x="132643" y="2821810"/>
            <a:chExt cx="5032706" cy="503097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4C4AC71-5834-DE0C-4CB4-5E39C0767C87}"/>
                </a:ext>
              </a:extLst>
            </p:cNvPr>
            <p:cNvSpPr/>
            <p:nvPr/>
          </p:nvSpPr>
          <p:spPr>
            <a:xfrm rot="16200000">
              <a:off x="381588" y="3069027"/>
              <a:ext cx="4534815" cy="5032706"/>
            </a:xfrm>
            <a:custGeom>
              <a:avLst/>
              <a:gdLst/>
              <a:ahLst/>
              <a:cxnLst/>
              <a:rect l="l" t="t" r="r" b="b"/>
              <a:pathLst>
                <a:path w="4922989" h="7871058">
                  <a:moveTo>
                    <a:pt x="0" y="0"/>
                  </a:moveTo>
                  <a:lnTo>
                    <a:pt x="4922989" y="0"/>
                  </a:lnTo>
                  <a:lnTo>
                    <a:pt x="4922989" y="7871058"/>
                  </a:lnTo>
                  <a:lnTo>
                    <a:pt x="0" y="7871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33E202C-2644-CD3A-AA8B-CDDA0711B5FD}"/>
                </a:ext>
              </a:extLst>
            </p:cNvPr>
            <p:cNvSpPr txBox="1"/>
            <p:nvPr/>
          </p:nvSpPr>
          <p:spPr>
            <a:xfrm>
              <a:off x="610764" y="2821810"/>
              <a:ext cx="2319601" cy="43228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System Live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36B9DF-C7E9-413C-6EA9-FDF0473DA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6291" y="3533956"/>
              <a:ext cx="3862282" cy="3862282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06CE09-0CDC-E12A-852D-86EC5DE6FE1B}"/>
              </a:ext>
            </a:extLst>
          </p:cNvPr>
          <p:cNvSpPr txBox="1"/>
          <p:nvPr/>
        </p:nvSpPr>
        <p:spPr>
          <a:xfrm>
            <a:off x="8431406" y="5595677"/>
            <a:ext cx="857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Click URL:  </a:t>
            </a:r>
            <a:r>
              <a:rPr lang="en-US" sz="28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PERA-SAM | Acoustic Intelligence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0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43DDE-0A21-A9F5-6D54-8A76A7E1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0FCD5B4B-CBD9-7F22-4B4B-03DA5CAC688B}"/>
              </a:ext>
            </a:extLst>
          </p:cNvPr>
          <p:cNvSpPr txBox="1"/>
          <p:nvPr/>
        </p:nvSpPr>
        <p:spPr>
          <a:xfrm>
            <a:off x="7972413" y="1440927"/>
            <a:ext cx="7040848" cy="64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463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&amp;  RESOLUTIONS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467E88AD-F937-16F7-319B-6C076D892AF5}"/>
              </a:ext>
            </a:extLst>
          </p:cNvPr>
          <p:cNvSpPr txBox="1"/>
          <p:nvPr/>
        </p:nvSpPr>
        <p:spPr>
          <a:xfrm>
            <a:off x="3306694" y="1306549"/>
            <a:ext cx="6629044" cy="78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CHALLENGES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45801B-200B-B327-3883-CF63D35D9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3" b="9891"/>
          <a:stretch>
            <a:fillRect/>
          </a:stretch>
        </p:blipFill>
        <p:spPr>
          <a:xfrm>
            <a:off x="228397" y="2552700"/>
            <a:ext cx="17831206" cy="6629400"/>
          </a:xfrm>
          <a:prstGeom prst="roundRect">
            <a:avLst>
              <a:gd name="adj" fmla="val 9269"/>
            </a:avLst>
          </a:prstGeom>
        </p:spPr>
      </p:pic>
      <p:sp>
        <p:nvSpPr>
          <p:cNvPr id="22" name="Freeform 2">
            <a:extLst>
              <a:ext uri="{FF2B5EF4-FFF2-40B4-BE49-F238E27FC236}">
                <a16:creationId xmlns:a16="http://schemas.microsoft.com/office/drawing/2014/main" id="{9CF77F90-3732-91AD-7A67-A39921729D3C}"/>
              </a:ext>
            </a:extLst>
          </p:cNvPr>
          <p:cNvSpPr/>
          <p:nvPr/>
        </p:nvSpPr>
        <p:spPr>
          <a:xfrm>
            <a:off x="2458" y="0"/>
            <a:ext cx="18285542" cy="10287000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3D7E3A-B654-A8B2-5B5F-F62399D35567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15" name="Freeform 4">
              <a:extLst>
                <a:ext uri="{FF2B5EF4-FFF2-40B4-BE49-F238E27FC236}">
                  <a16:creationId xmlns:a16="http://schemas.microsoft.com/office/drawing/2014/main" id="{4DDD006D-CF99-5883-DCDF-DD3461EAF771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262E9A3D-DD1C-DEE7-46A4-F065A9BDF90B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45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1B3A9-86C3-901A-B51C-02F46B86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9F64DC19-A46E-6159-8C28-4737EEF50AD1}"/>
              </a:ext>
            </a:extLst>
          </p:cNvPr>
          <p:cNvSpPr txBox="1"/>
          <p:nvPr/>
        </p:nvSpPr>
        <p:spPr>
          <a:xfrm>
            <a:off x="7551274" y="1496670"/>
            <a:ext cx="7040848" cy="644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463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COLLABORATION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C8F9A28-FD97-C68B-78DA-16EE1206FBEC}"/>
              </a:ext>
            </a:extLst>
          </p:cNvPr>
          <p:cNvSpPr txBox="1"/>
          <p:nvPr/>
        </p:nvSpPr>
        <p:spPr>
          <a:xfrm>
            <a:off x="3695878" y="1361881"/>
            <a:ext cx="6629044" cy="80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2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TEAM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11401AE-DA50-ECD6-937A-6F980B5DE0E1}"/>
              </a:ext>
            </a:extLst>
          </p:cNvPr>
          <p:cNvSpPr/>
          <p:nvPr/>
        </p:nvSpPr>
        <p:spPr>
          <a:xfrm rot="16200000">
            <a:off x="10734966" y="1857661"/>
            <a:ext cx="6266875" cy="7315205"/>
          </a:xfrm>
          <a:custGeom>
            <a:avLst/>
            <a:gdLst/>
            <a:ahLst/>
            <a:cxnLst/>
            <a:rect l="l" t="t" r="r" b="b"/>
            <a:pathLst>
              <a:path w="4146166" h="6629044">
                <a:moveTo>
                  <a:pt x="0" y="0"/>
                </a:moveTo>
                <a:lnTo>
                  <a:pt x="4146166" y="0"/>
                </a:lnTo>
                <a:lnTo>
                  <a:pt x="4146166" y="6629044"/>
                </a:lnTo>
                <a:lnTo>
                  <a:pt x="0" y="66290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8A58F7-0998-E9FB-7170-DE6ADA635966}"/>
              </a:ext>
            </a:extLst>
          </p:cNvPr>
          <p:cNvCxnSpPr/>
          <p:nvPr/>
        </p:nvCxnSpPr>
        <p:spPr>
          <a:xfrm>
            <a:off x="4082471" y="2705100"/>
            <a:ext cx="0" cy="613088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8">
            <a:extLst>
              <a:ext uri="{FF2B5EF4-FFF2-40B4-BE49-F238E27FC236}">
                <a16:creationId xmlns:a16="http://schemas.microsoft.com/office/drawing/2014/main" id="{1A27955F-5E25-04BD-61F1-645C611D3567}"/>
              </a:ext>
            </a:extLst>
          </p:cNvPr>
          <p:cNvSpPr txBox="1"/>
          <p:nvPr/>
        </p:nvSpPr>
        <p:spPr>
          <a:xfrm>
            <a:off x="1596661" y="4706732"/>
            <a:ext cx="215365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950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E/22/184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80D28316-784E-509E-047A-B5DCBC0E34F4}"/>
              </a:ext>
            </a:extLst>
          </p:cNvPr>
          <p:cNvSpPr txBox="1"/>
          <p:nvPr/>
        </p:nvSpPr>
        <p:spPr>
          <a:xfrm>
            <a:off x="1623700" y="3223157"/>
            <a:ext cx="215365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950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E/22/396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D4FDC91A-EF87-1140-D7F8-48F8F738C7FA}"/>
              </a:ext>
            </a:extLst>
          </p:cNvPr>
          <p:cNvSpPr txBox="1"/>
          <p:nvPr/>
        </p:nvSpPr>
        <p:spPr>
          <a:xfrm>
            <a:off x="1596661" y="6190307"/>
            <a:ext cx="215365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950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E/22/336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9FD021C-F1D2-4BF8-D2EF-664933C3E3C5}"/>
              </a:ext>
            </a:extLst>
          </p:cNvPr>
          <p:cNvSpPr txBox="1"/>
          <p:nvPr/>
        </p:nvSpPr>
        <p:spPr>
          <a:xfrm>
            <a:off x="1574538" y="7673882"/>
            <a:ext cx="215365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950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E/22/188</a:t>
            </a:r>
          </a:p>
        </p:txBody>
      </p:sp>
      <p:sp>
        <p:nvSpPr>
          <p:cNvPr id="20" name="Star: 4 Points 19">
            <a:extLst>
              <a:ext uri="{FF2B5EF4-FFF2-40B4-BE49-F238E27FC236}">
                <a16:creationId xmlns:a16="http://schemas.microsoft.com/office/drawing/2014/main" id="{C18A44A7-E715-A98D-FF99-320A1B5264E2}"/>
              </a:ext>
            </a:extLst>
          </p:cNvPr>
          <p:cNvSpPr/>
          <p:nvPr/>
        </p:nvSpPr>
        <p:spPr>
          <a:xfrm>
            <a:off x="3863704" y="3082143"/>
            <a:ext cx="457197" cy="562644"/>
          </a:xfrm>
          <a:prstGeom prst="star4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ar: 4 Points 20">
            <a:extLst>
              <a:ext uri="{FF2B5EF4-FFF2-40B4-BE49-F238E27FC236}">
                <a16:creationId xmlns:a16="http://schemas.microsoft.com/office/drawing/2014/main" id="{F7439BFE-579F-B275-4B19-D4306F493365}"/>
              </a:ext>
            </a:extLst>
          </p:cNvPr>
          <p:cNvSpPr/>
          <p:nvPr/>
        </p:nvSpPr>
        <p:spPr>
          <a:xfrm>
            <a:off x="3863704" y="4565684"/>
            <a:ext cx="457197" cy="562644"/>
          </a:xfrm>
          <a:prstGeom prst="star4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tar: 4 Points 22">
            <a:extLst>
              <a:ext uri="{FF2B5EF4-FFF2-40B4-BE49-F238E27FC236}">
                <a16:creationId xmlns:a16="http://schemas.microsoft.com/office/drawing/2014/main" id="{14F61F52-9920-FC3F-9589-4D8070D6D3A5}"/>
              </a:ext>
            </a:extLst>
          </p:cNvPr>
          <p:cNvSpPr/>
          <p:nvPr/>
        </p:nvSpPr>
        <p:spPr>
          <a:xfrm>
            <a:off x="3853872" y="6047518"/>
            <a:ext cx="457197" cy="562644"/>
          </a:xfrm>
          <a:prstGeom prst="star4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4 Points 23">
            <a:extLst>
              <a:ext uri="{FF2B5EF4-FFF2-40B4-BE49-F238E27FC236}">
                <a16:creationId xmlns:a16="http://schemas.microsoft.com/office/drawing/2014/main" id="{63D67080-CB69-1215-8ADC-9FF2CFDD6233}"/>
              </a:ext>
            </a:extLst>
          </p:cNvPr>
          <p:cNvSpPr/>
          <p:nvPr/>
        </p:nvSpPr>
        <p:spPr>
          <a:xfrm>
            <a:off x="3863704" y="7531059"/>
            <a:ext cx="457197" cy="562644"/>
          </a:xfrm>
          <a:prstGeom prst="star4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46D6CB90-9321-4611-D119-1EE1D54ADE77}"/>
              </a:ext>
            </a:extLst>
          </p:cNvPr>
          <p:cNvSpPr/>
          <p:nvPr/>
        </p:nvSpPr>
        <p:spPr>
          <a:xfrm>
            <a:off x="1" y="0"/>
            <a:ext cx="18288000" cy="10256901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A08A466-04AD-3E79-4310-B4146B293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0400" y="2563817"/>
            <a:ext cx="5696089" cy="5550780"/>
          </a:xfrm>
          <a:prstGeom prst="roundRect">
            <a:avLst>
              <a:gd name="adj" fmla="val 3116"/>
            </a:avLst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D8C4CE-E239-CFB6-7C5C-F6DD64A4A2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9440" y="8617974"/>
            <a:ext cx="1579157" cy="157915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3AB9FAA-B160-30D5-3A2F-7AEC2DB297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4825" y="1638299"/>
            <a:ext cx="1502526" cy="1502526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4" name="TextBox 9">
            <a:extLst>
              <a:ext uri="{FF2B5EF4-FFF2-40B4-BE49-F238E27FC236}">
                <a16:creationId xmlns:a16="http://schemas.microsoft.com/office/drawing/2014/main" id="{329433C9-EA86-9C58-F4B0-589D176A48E7}"/>
              </a:ext>
            </a:extLst>
          </p:cNvPr>
          <p:cNvSpPr txBox="1"/>
          <p:nvPr/>
        </p:nvSpPr>
        <p:spPr>
          <a:xfrm>
            <a:off x="10481228" y="8528105"/>
            <a:ext cx="4320904" cy="466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GitHub Repo:</a:t>
            </a: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77DD02FE-0D00-4073-4B5E-D170F6D3300B}"/>
              </a:ext>
            </a:extLst>
          </p:cNvPr>
          <p:cNvSpPr txBox="1"/>
          <p:nvPr/>
        </p:nvSpPr>
        <p:spPr>
          <a:xfrm>
            <a:off x="4653061" y="2953740"/>
            <a:ext cx="6132669" cy="1071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Front-end design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(React +Vite, TypeScript, Tailwind CSS, Radix UI.)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React + Ts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codebase implement &amp; maintain</a:t>
            </a: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Back-end integration works.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Docker deploy &amp; cloud hosting.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(Azure)</a:t>
            </a: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5F28C9BC-B4AF-A6BB-19E1-13AA1F7E24EF}"/>
              </a:ext>
            </a:extLst>
          </p:cNvPr>
          <p:cNvSpPr txBox="1"/>
          <p:nvPr/>
        </p:nvSpPr>
        <p:spPr>
          <a:xfrm>
            <a:off x="4657284" y="4528593"/>
            <a:ext cx="4947229" cy="1602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Database monitoring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(Supabase (PostgreSQL).)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Data set handling &amp;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model training</a:t>
            </a: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.</a:t>
            </a:r>
            <a:b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</a:b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Front end Landing page &amp; Map navigation.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Back-end authentication work.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End point API testing using postman.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endParaRPr lang="en-US" sz="1400" b="1" dirty="0">
              <a:solidFill>
                <a:srgbClr val="FFFFFF"/>
              </a:solidFill>
              <a:latin typeface="TT Lakes Neue"/>
              <a:ea typeface="TT Lakes Neue"/>
              <a:cs typeface="TT Lakes Neue"/>
              <a:sym typeface="TT Lakes Neue"/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B6576969-2A51-BE2F-513C-02E4C38A7677}"/>
              </a:ext>
            </a:extLst>
          </p:cNvPr>
          <p:cNvSpPr txBox="1"/>
          <p:nvPr/>
        </p:nvSpPr>
        <p:spPr>
          <a:xfrm>
            <a:off x="4692071" y="6130172"/>
            <a:ext cx="5273742" cy="1071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Front-end Sound upload page implement.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Back-end integration.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(Python, FastAPI, Uvicorn.) 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Back-end workflow monitoring.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Test cases &amp; unit testing.</a:t>
            </a: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085E282D-439A-49E1-93FE-AC2E6239DEFB}"/>
              </a:ext>
            </a:extLst>
          </p:cNvPr>
          <p:cNvSpPr txBox="1"/>
          <p:nvPr/>
        </p:nvSpPr>
        <p:spPr>
          <a:xfrm>
            <a:off x="4662646" y="7663244"/>
            <a:ext cx="5464295" cy="1071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Front-end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Dashboard integration. 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Navigation panel rebuild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(Landing Page).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Maintain Product back log and SRS document.</a:t>
            </a:r>
          </a:p>
          <a:p>
            <a:pPr>
              <a:lnSpc>
                <a:spcPts val="2067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Project report &amp; documentation handling. </a:t>
            </a: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A693194B-14D5-31A2-B073-6D8388A00DED}"/>
              </a:ext>
            </a:extLst>
          </p:cNvPr>
          <p:cNvSpPr txBox="1"/>
          <p:nvPr/>
        </p:nvSpPr>
        <p:spPr>
          <a:xfrm>
            <a:off x="1596661" y="6478079"/>
            <a:ext cx="2153650" cy="255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TT Lakes Neue"/>
                <a:ea typeface="TT Lakes Neue"/>
                <a:cs typeface="TT Lakes Neue"/>
                <a:sym typeface="TT Lakes Neue"/>
              </a:rPr>
              <a:t>(Leader)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227351A-A1F0-F923-A3EF-236F6E1D9806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41" name="Freeform 4">
              <a:extLst>
                <a:ext uri="{FF2B5EF4-FFF2-40B4-BE49-F238E27FC236}">
                  <a16:creationId xmlns:a16="http://schemas.microsoft.com/office/drawing/2014/main" id="{B9CB67C3-F07B-D318-0BDB-E05A99E12391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0">
              <a:extLst>
                <a:ext uri="{FF2B5EF4-FFF2-40B4-BE49-F238E27FC236}">
                  <a16:creationId xmlns:a16="http://schemas.microsoft.com/office/drawing/2014/main" id="{21CE43A3-0570-821C-7E1A-C8E65CD686F0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1720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9296400" y="558132"/>
            <a:ext cx="3429000" cy="594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7800" y="545401"/>
            <a:ext cx="8838193" cy="594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1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MVP SYSTEM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058E1FF-0630-D203-E656-5CC7F4B2CB4B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27" name="Freeform 4">
              <a:extLst>
                <a:ext uri="{FF2B5EF4-FFF2-40B4-BE49-F238E27FC236}">
                  <a16:creationId xmlns:a16="http://schemas.microsoft.com/office/drawing/2014/main" id="{32E426BB-861B-96C4-68EB-E2BD14416175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714A6FE0-368E-6BB5-8E85-99D3D3583C55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05F2EC6A-8A0D-74F8-2436-232748ABD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1" t="13703" r="4266" b="10740"/>
          <a:stretch>
            <a:fillRect/>
          </a:stretch>
        </p:blipFill>
        <p:spPr>
          <a:xfrm>
            <a:off x="919998" y="1342653"/>
            <a:ext cx="16448003" cy="8516226"/>
          </a:xfrm>
          <a:prstGeom prst="roundRect">
            <a:avLst>
              <a:gd name="adj" fmla="val 13530"/>
            </a:avLst>
          </a:prstGeom>
        </p:spPr>
      </p:pic>
      <p:sp>
        <p:nvSpPr>
          <p:cNvPr id="20" name="Freeform 2">
            <a:extLst>
              <a:ext uri="{FF2B5EF4-FFF2-40B4-BE49-F238E27FC236}">
                <a16:creationId xmlns:a16="http://schemas.microsoft.com/office/drawing/2014/main" id="{F7EEA72F-B68D-5AB9-B8EC-480765EDF77F}"/>
              </a:ext>
            </a:extLst>
          </p:cNvPr>
          <p:cNvSpPr/>
          <p:nvPr/>
        </p:nvSpPr>
        <p:spPr>
          <a:xfrm>
            <a:off x="2458" y="23352"/>
            <a:ext cx="18285542" cy="10263648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B49D8-BE91-7D8B-BD2C-A761782B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C18D176E-2A6B-5BA8-B6C3-0416E2FCF0C5}"/>
              </a:ext>
            </a:extLst>
          </p:cNvPr>
          <p:cNvSpPr/>
          <p:nvPr/>
        </p:nvSpPr>
        <p:spPr>
          <a:xfrm>
            <a:off x="32938" y="23352"/>
            <a:ext cx="18285542" cy="10263648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3D11A03-AA1C-F137-7C66-8ED9F2270120}"/>
              </a:ext>
            </a:extLst>
          </p:cNvPr>
          <p:cNvGrpSpPr/>
          <p:nvPr/>
        </p:nvGrpSpPr>
        <p:grpSpPr>
          <a:xfrm>
            <a:off x="4756612" y="1361401"/>
            <a:ext cx="8838193" cy="614721"/>
            <a:chOff x="5142662" y="1325487"/>
            <a:chExt cx="8838193" cy="61472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8FC30858-874C-79BD-A1DB-4F24A46EFAB2}"/>
                </a:ext>
              </a:extLst>
            </p:cNvPr>
            <p:cNvSpPr txBox="1"/>
            <p:nvPr/>
          </p:nvSpPr>
          <p:spPr>
            <a:xfrm>
              <a:off x="8915400" y="1345815"/>
              <a:ext cx="3429000" cy="5943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452"/>
                </a:lnSpc>
                <a:spcBef>
                  <a:spcPct val="0"/>
                </a:spcBef>
              </a:pPr>
              <a:r>
                <a:rPr lang="en-US" sz="4200" b="1" dirty="0">
                  <a:solidFill>
                    <a:srgbClr val="FFFFFF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PERA-SAM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FDCC12A-FA4A-FCE2-AC7F-0AC67A922B09}"/>
                </a:ext>
              </a:extLst>
            </p:cNvPr>
            <p:cNvSpPr txBox="1"/>
            <p:nvPr/>
          </p:nvSpPr>
          <p:spPr>
            <a:xfrm>
              <a:off x="5142662" y="1325487"/>
              <a:ext cx="8838193" cy="594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51"/>
                </a:lnSpc>
                <a:spcBef>
                  <a:spcPct val="0"/>
                </a:spcBef>
              </a:pPr>
              <a:r>
                <a:rPr lang="en-US" sz="4199" b="1" dirty="0">
                  <a:solidFill>
                    <a:srgbClr val="84E3F8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WORK WITH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916349-E8CE-42A5-B711-A14D214A83CB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27" name="Freeform 4">
              <a:extLst>
                <a:ext uri="{FF2B5EF4-FFF2-40B4-BE49-F238E27FC236}">
                  <a16:creationId xmlns:a16="http://schemas.microsoft.com/office/drawing/2014/main" id="{FF7E1C2A-9D7C-AD50-1802-87B9A35E0D30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6C77A703-E1F1-2A9B-D26E-239B332A0013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B1472A7-50F1-6429-3AE7-33662BCB0601}"/>
              </a:ext>
            </a:extLst>
          </p:cNvPr>
          <p:cNvGrpSpPr/>
          <p:nvPr/>
        </p:nvGrpSpPr>
        <p:grpSpPr>
          <a:xfrm>
            <a:off x="1482361" y="2466140"/>
            <a:ext cx="4461240" cy="4184503"/>
            <a:chOff x="132643" y="2821810"/>
            <a:chExt cx="5032706" cy="5030977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32EB5D38-FD31-3F05-5B1F-E09EF3DEB5F3}"/>
                </a:ext>
              </a:extLst>
            </p:cNvPr>
            <p:cNvSpPr/>
            <p:nvPr/>
          </p:nvSpPr>
          <p:spPr>
            <a:xfrm rot="16200000">
              <a:off x="381588" y="3069027"/>
              <a:ext cx="4534815" cy="5032706"/>
            </a:xfrm>
            <a:custGeom>
              <a:avLst/>
              <a:gdLst/>
              <a:ahLst/>
              <a:cxnLst/>
              <a:rect l="l" t="t" r="r" b="b"/>
              <a:pathLst>
                <a:path w="4922989" h="7871058">
                  <a:moveTo>
                    <a:pt x="0" y="0"/>
                  </a:moveTo>
                  <a:lnTo>
                    <a:pt x="4922989" y="0"/>
                  </a:lnTo>
                  <a:lnTo>
                    <a:pt x="4922989" y="7871058"/>
                  </a:lnTo>
                  <a:lnTo>
                    <a:pt x="0" y="7871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6554EC-8732-13B4-FAB1-1193D68C4303}"/>
                </a:ext>
              </a:extLst>
            </p:cNvPr>
            <p:cNvSpPr txBox="1"/>
            <p:nvPr/>
          </p:nvSpPr>
          <p:spPr>
            <a:xfrm>
              <a:off x="610764" y="2821810"/>
              <a:ext cx="2319601" cy="44404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System Live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76F6C3B-DEA8-DD5C-9DD1-547F2F219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648" y="3609479"/>
              <a:ext cx="3684694" cy="3684694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F4E1335-1996-9133-9887-86F6C12EA0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2550413"/>
            <a:ext cx="8237207" cy="3832561"/>
          </a:xfrm>
          <a:prstGeom prst="roundRect">
            <a:avLst>
              <a:gd name="adj" fmla="val 7002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E77935-8BA2-4E53-8211-27FCA5A255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8028609"/>
            <a:ext cx="13045690" cy="1644584"/>
          </a:xfrm>
          <a:prstGeom prst="round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4265E26-1B85-BA4B-51E4-029E70CF5925}"/>
              </a:ext>
            </a:extLst>
          </p:cNvPr>
          <p:cNvGrpSpPr/>
          <p:nvPr/>
        </p:nvGrpSpPr>
        <p:grpSpPr>
          <a:xfrm>
            <a:off x="5735842" y="7264625"/>
            <a:ext cx="6816316" cy="594330"/>
            <a:chOff x="5756685" y="7196966"/>
            <a:chExt cx="7323948" cy="676339"/>
          </a:xfrm>
        </p:grpSpPr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45019C78-2BD5-7FA1-FFB8-DA875F3F3F04}"/>
                </a:ext>
              </a:extLst>
            </p:cNvPr>
            <p:cNvSpPr txBox="1"/>
            <p:nvPr/>
          </p:nvSpPr>
          <p:spPr>
            <a:xfrm>
              <a:off x="5756685" y="7237989"/>
              <a:ext cx="1600200" cy="5943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452"/>
                </a:lnSpc>
                <a:spcBef>
                  <a:spcPct val="0"/>
                </a:spcBef>
              </a:pPr>
              <a:r>
                <a:rPr lang="en-US" sz="4200" b="1" dirty="0">
                  <a:solidFill>
                    <a:srgbClr val="FFFFFF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SAM</a:t>
              </a:r>
            </a:p>
          </p:txBody>
        </p:sp>
        <p:sp>
          <p:nvSpPr>
            <p:cNvPr id="16" name="TextBox 7">
              <a:extLst>
                <a:ext uri="{FF2B5EF4-FFF2-40B4-BE49-F238E27FC236}">
                  <a16:creationId xmlns:a16="http://schemas.microsoft.com/office/drawing/2014/main" id="{E37FF2E8-F22A-97FF-134C-1E8F54385F25}"/>
                </a:ext>
              </a:extLst>
            </p:cNvPr>
            <p:cNvSpPr txBox="1"/>
            <p:nvPr/>
          </p:nvSpPr>
          <p:spPr>
            <a:xfrm>
              <a:off x="7417072" y="7196966"/>
              <a:ext cx="5663561" cy="6763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20"/>
                </a:lnSpc>
                <a:spcBef>
                  <a:spcPct val="0"/>
                </a:spcBef>
              </a:pPr>
              <a:r>
                <a:rPr lang="en-US" sz="4830" b="1" dirty="0">
                  <a:solidFill>
                    <a:srgbClr val="84E3F8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Architecture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5C94629-ED17-9BAA-6C5A-45E81F484383}"/>
              </a:ext>
            </a:extLst>
          </p:cNvPr>
          <p:cNvSpPr txBox="1"/>
          <p:nvPr/>
        </p:nvSpPr>
        <p:spPr>
          <a:xfrm>
            <a:off x="7281145" y="6472492"/>
            <a:ext cx="2924457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Live analysis in supabase</a:t>
            </a:r>
          </a:p>
        </p:txBody>
      </p:sp>
    </p:spTree>
    <p:extLst>
      <p:ext uri="{BB962C8B-B14F-4D97-AF65-F5344CB8AC3E}">
        <p14:creationId xmlns:p14="http://schemas.microsoft.com/office/powerpoint/2010/main" val="414180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2">
            <a:extLst>
              <a:ext uri="{FF2B5EF4-FFF2-40B4-BE49-F238E27FC236}">
                <a16:creationId xmlns:a16="http://schemas.microsoft.com/office/drawing/2014/main" id="{8A61B860-F786-9E46-B3BA-C4A2A7BF5FF5}"/>
              </a:ext>
            </a:extLst>
          </p:cNvPr>
          <p:cNvSpPr/>
          <p:nvPr/>
        </p:nvSpPr>
        <p:spPr>
          <a:xfrm>
            <a:off x="-19665" y="0"/>
            <a:ext cx="18307665" cy="10287000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402960C-9F80-8F06-E0AC-20F5F2F6D351}"/>
              </a:ext>
            </a:extLst>
          </p:cNvPr>
          <p:cNvGrpSpPr/>
          <p:nvPr/>
        </p:nvGrpSpPr>
        <p:grpSpPr>
          <a:xfrm>
            <a:off x="5793520" y="914532"/>
            <a:ext cx="6987783" cy="676438"/>
            <a:chOff x="7497403" y="749175"/>
            <a:chExt cx="3336325" cy="676438"/>
          </a:xfrm>
        </p:grpSpPr>
        <p:sp>
          <p:nvSpPr>
            <p:cNvPr id="37" name="TextBox 7">
              <a:extLst>
                <a:ext uri="{FF2B5EF4-FFF2-40B4-BE49-F238E27FC236}">
                  <a16:creationId xmlns:a16="http://schemas.microsoft.com/office/drawing/2014/main" id="{ED42CAAA-FDCE-790A-323B-E724529BBFE6}"/>
                </a:ext>
              </a:extLst>
            </p:cNvPr>
            <p:cNvSpPr txBox="1"/>
            <p:nvPr/>
          </p:nvSpPr>
          <p:spPr>
            <a:xfrm>
              <a:off x="7497403" y="749175"/>
              <a:ext cx="1430757" cy="676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20"/>
                </a:lnSpc>
                <a:spcBef>
                  <a:spcPct val="0"/>
                </a:spcBef>
              </a:pPr>
              <a:r>
                <a:rPr lang="en-US" sz="4830" b="1" dirty="0">
                  <a:solidFill>
                    <a:srgbClr val="84E3F8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CUSTOM </a:t>
              </a: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67DCBD35-3DD7-B17B-BF5B-1D0B81B852D5}"/>
                </a:ext>
              </a:extLst>
            </p:cNvPr>
            <p:cNvSpPr txBox="1"/>
            <p:nvPr/>
          </p:nvSpPr>
          <p:spPr>
            <a:xfrm>
              <a:off x="9051020" y="749175"/>
              <a:ext cx="1782708" cy="676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20"/>
                </a:lnSpc>
                <a:spcBef>
                  <a:spcPct val="0"/>
                </a:spcBef>
              </a:pPr>
              <a:r>
                <a:rPr lang="en-US" sz="4830" b="1" dirty="0">
                  <a:solidFill>
                    <a:srgbClr val="FFFFFF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FEEDBACK</a:t>
              </a:r>
            </a:p>
          </p:txBody>
        </p:sp>
      </p:grpSp>
      <p:sp>
        <p:nvSpPr>
          <p:cNvPr id="6" name="TextBox 7">
            <a:extLst>
              <a:ext uri="{FF2B5EF4-FFF2-40B4-BE49-F238E27FC236}">
                <a16:creationId xmlns:a16="http://schemas.microsoft.com/office/drawing/2014/main" id="{FB80CA14-D35D-00F0-DF51-A011689DD196}"/>
              </a:ext>
            </a:extLst>
          </p:cNvPr>
          <p:cNvSpPr txBox="1"/>
          <p:nvPr/>
        </p:nvSpPr>
        <p:spPr>
          <a:xfrm>
            <a:off x="1752600" y="2379422"/>
            <a:ext cx="9718061" cy="6540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Present feedback from the real users. </a:t>
            </a: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3F712FB2-F50C-6ABF-B638-C7B6B914792E}"/>
              </a:ext>
            </a:extLst>
          </p:cNvPr>
          <p:cNvSpPr txBox="1"/>
          <p:nvPr/>
        </p:nvSpPr>
        <p:spPr>
          <a:xfrm>
            <a:off x="1920240" y="9247374"/>
            <a:ext cx="659197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of them result some time failure with background noise, </a:t>
            </a:r>
            <a:b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most of feedback is it.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0A4918-CA76-A1D0-53B6-1011A080D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3114474"/>
            <a:ext cx="4839375" cy="5944430"/>
          </a:xfrm>
          <a:prstGeom prst="roundRect">
            <a:avLst>
              <a:gd name="adj" fmla="val 8743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863E09D-AEC3-D2A3-B87B-CA8AB1BB6E4C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C1D04EDD-1412-6449-53BF-42C4D9496B4D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0">
              <a:extLst>
                <a:ext uri="{FF2B5EF4-FFF2-40B4-BE49-F238E27FC236}">
                  <a16:creationId xmlns:a16="http://schemas.microsoft.com/office/drawing/2014/main" id="{CFBDA9C8-1FD7-88CE-45CF-3246CE2A07F6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E48B3C5-5CF7-18D6-C816-FDED504996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22718" y="3679163"/>
            <a:ext cx="4177582" cy="4679636"/>
          </a:xfrm>
          <a:prstGeom prst="roundRect">
            <a:avLst>
              <a:gd name="adj" fmla="val 5626"/>
            </a:avLst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8678C5-7A47-CACA-BB50-006A8950F5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2686"/>
          <a:stretch>
            <a:fillRect/>
          </a:stretch>
        </p:blipFill>
        <p:spPr>
          <a:xfrm>
            <a:off x="7086600" y="3679163"/>
            <a:ext cx="6848418" cy="4679636"/>
          </a:xfrm>
          <a:prstGeom prst="roundRect">
            <a:avLst>
              <a:gd name="adj" fmla="val 5597"/>
            </a:avLst>
          </a:prstGeom>
          <a:effectLst>
            <a:glow rad="228600">
              <a:schemeClr val="accent5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031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4F4E5-0A10-3FEA-5BA8-9479AB49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 2">
            <a:extLst>
              <a:ext uri="{FF2B5EF4-FFF2-40B4-BE49-F238E27FC236}">
                <a16:creationId xmlns:a16="http://schemas.microsoft.com/office/drawing/2014/main" id="{4D7C9E19-37D0-DA46-52C2-F9862FA99A80}"/>
              </a:ext>
            </a:extLst>
          </p:cNvPr>
          <p:cNvSpPr/>
          <p:nvPr/>
        </p:nvSpPr>
        <p:spPr>
          <a:xfrm>
            <a:off x="29497" y="1"/>
            <a:ext cx="18258503" cy="10287000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19F02C-675E-B991-8703-CA10D7A32A28}"/>
              </a:ext>
            </a:extLst>
          </p:cNvPr>
          <p:cNvGrpSpPr/>
          <p:nvPr/>
        </p:nvGrpSpPr>
        <p:grpSpPr>
          <a:xfrm>
            <a:off x="5808004" y="1219030"/>
            <a:ext cx="6700960" cy="1070664"/>
            <a:chOff x="7497403" y="749175"/>
            <a:chExt cx="3199381" cy="1070664"/>
          </a:xfrm>
        </p:grpSpPr>
        <p:sp>
          <p:nvSpPr>
            <p:cNvPr id="37" name="TextBox 7">
              <a:extLst>
                <a:ext uri="{FF2B5EF4-FFF2-40B4-BE49-F238E27FC236}">
                  <a16:creationId xmlns:a16="http://schemas.microsoft.com/office/drawing/2014/main" id="{0DB00980-F283-36CA-C756-75E5F5C49DA6}"/>
                </a:ext>
              </a:extLst>
            </p:cNvPr>
            <p:cNvSpPr txBox="1"/>
            <p:nvPr/>
          </p:nvSpPr>
          <p:spPr>
            <a:xfrm>
              <a:off x="7497403" y="749175"/>
              <a:ext cx="1430757" cy="676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20"/>
                </a:lnSpc>
                <a:spcBef>
                  <a:spcPct val="0"/>
                </a:spcBef>
              </a:pPr>
              <a:r>
                <a:rPr lang="en-US" sz="4830" b="1" dirty="0">
                  <a:solidFill>
                    <a:srgbClr val="84E3F8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CUSTOM </a:t>
              </a:r>
            </a:p>
          </p:txBody>
        </p:sp>
        <p:sp>
          <p:nvSpPr>
            <p:cNvPr id="38" name="TextBox 6">
              <a:extLst>
                <a:ext uri="{FF2B5EF4-FFF2-40B4-BE49-F238E27FC236}">
                  <a16:creationId xmlns:a16="http://schemas.microsoft.com/office/drawing/2014/main" id="{C84724E8-41B8-69ED-95F8-B411CC06448E}"/>
                </a:ext>
              </a:extLst>
            </p:cNvPr>
            <p:cNvSpPr txBox="1"/>
            <p:nvPr/>
          </p:nvSpPr>
          <p:spPr>
            <a:xfrm>
              <a:off x="8914076" y="1143401"/>
              <a:ext cx="1782708" cy="676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120"/>
                </a:lnSpc>
                <a:spcBef>
                  <a:spcPct val="0"/>
                </a:spcBef>
              </a:pPr>
              <a:r>
                <a:rPr lang="en-US" sz="4830" b="1" dirty="0">
                  <a:solidFill>
                    <a:srgbClr val="FFFFFF"/>
                  </a:solidFill>
                  <a:latin typeface="TT Lakes Neue Bold"/>
                  <a:ea typeface="TT Lakes Neue Bold"/>
                  <a:cs typeface="TT Lakes Neue Bold"/>
                  <a:sym typeface="TT Lakes Neue Bold"/>
                </a:rPr>
                <a:t>FEEDBACK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722951A-FD26-0162-6780-3733F8B8BF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2" b="7893"/>
          <a:stretch>
            <a:fillRect/>
          </a:stretch>
        </p:blipFill>
        <p:spPr>
          <a:xfrm>
            <a:off x="12660449" y="3285598"/>
            <a:ext cx="4861460" cy="5738117"/>
          </a:xfrm>
          <a:prstGeom prst="roundRect">
            <a:avLst>
              <a:gd name="adj" fmla="val 7078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808DC574-8A18-6505-F48E-0E1F05A6CAB6}"/>
              </a:ext>
            </a:extLst>
          </p:cNvPr>
          <p:cNvSpPr txBox="1"/>
          <p:nvPr/>
        </p:nvSpPr>
        <p:spPr>
          <a:xfrm>
            <a:off x="1711938" y="2631573"/>
            <a:ext cx="13680462" cy="6540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Feedback from Faculty Engineering Work Department.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DE9631EC-29B8-0D2C-B028-7E8F32AD3F75}"/>
              </a:ext>
            </a:extLst>
          </p:cNvPr>
          <p:cNvSpPr txBox="1"/>
          <p:nvPr/>
        </p:nvSpPr>
        <p:spPr>
          <a:xfrm>
            <a:off x="7237345" y="4612948"/>
            <a:ext cx="467418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give a valuable feedback from workshop technical officer in charge.</a:t>
            </a:r>
            <a:b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0089664D-A238-F8A9-49DB-90F1A7F3D007}"/>
              </a:ext>
            </a:extLst>
          </p:cNvPr>
          <p:cNvSpPr txBox="1"/>
          <p:nvPr/>
        </p:nvSpPr>
        <p:spPr>
          <a:xfrm>
            <a:off x="7237345" y="5474016"/>
            <a:ext cx="497186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suggest for develop to cancel background noise also 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70D402-5318-4128-4D48-0A3240D5F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938" y="3513375"/>
            <a:ext cx="4839375" cy="5738116"/>
          </a:xfrm>
          <a:prstGeom prst="roundRect">
            <a:avLst>
              <a:gd name="adj" fmla="val 9716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835F405-B823-43E9-6409-107B4A597625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7E0A9037-AB47-6258-4250-6673C4920542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619EA97B-3FE3-F716-2C5A-CC44A41C80EA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1479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4CCA18A-2C5A-B7CA-6980-DF4772269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90" b="4846"/>
          <a:stretch>
            <a:fillRect/>
          </a:stretch>
        </p:blipFill>
        <p:spPr>
          <a:xfrm>
            <a:off x="6187741" y="1498692"/>
            <a:ext cx="11430000" cy="8675071"/>
          </a:xfrm>
          <a:prstGeom prst="roundRect">
            <a:avLst>
              <a:gd name="adj" fmla="val 18244"/>
            </a:avLst>
          </a:prstGeom>
        </p:spPr>
      </p:pic>
      <p:sp>
        <p:nvSpPr>
          <p:cNvPr id="7" name="TextBox 7"/>
          <p:cNvSpPr txBox="1"/>
          <p:nvPr/>
        </p:nvSpPr>
        <p:spPr>
          <a:xfrm>
            <a:off x="6379852" y="845212"/>
            <a:ext cx="4343400" cy="67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830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WHAT OUR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13389" y="845213"/>
            <a:ext cx="4032025" cy="67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NEXT 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82600" y="1056501"/>
            <a:ext cx="215365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7"/>
              </a:lnSpc>
              <a:spcBef>
                <a:spcPct val="0"/>
              </a:spcBef>
            </a:pPr>
            <a:r>
              <a:rPr lang="en-US" sz="1950" dirty="0">
                <a:solidFill>
                  <a:srgbClr val="FFFFFF"/>
                </a:solidFill>
                <a:latin typeface="TT Lakes Neue"/>
                <a:ea typeface="TT Lakes Neue"/>
                <a:cs typeface="TT Lakes Neue"/>
                <a:sym typeface="TT Lakes Neue"/>
              </a:rPr>
              <a:t>(SEMESTER 4)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A5CE9B57-7915-1976-7628-0426F98AA61E}"/>
              </a:ext>
            </a:extLst>
          </p:cNvPr>
          <p:cNvSpPr/>
          <p:nvPr/>
        </p:nvSpPr>
        <p:spPr>
          <a:xfrm>
            <a:off x="1" y="1229"/>
            <a:ext cx="18288000" cy="10285771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1BECD7D-C415-3138-E302-45AE9D03E153}"/>
              </a:ext>
            </a:extLst>
          </p:cNvPr>
          <p:cNvGrpSpPr/>
          <p:nvPr/>
        </p:nvGrpSpPr>
        <p:grpSpPr>
          <a:xfrm>
            <a:off x="0" y="2444687"/>
            <a:ext cx="5780041" cy="6535764"/>
            <a:chOff x="-425692" y="3064852"/>
            <a:chExt cx="5780041" cy="6535764"/>
          </a:xfrm>
        </p:grpSpPr>
        <p:sp>
          <p:nvSpPr>
            <p:cNvPr id="12" name="TextBox 20">
              <a:extLst>
                <a:ext uri="{FF2B5EF4-FFF2-40B4-BE49-F238E27FC236}">
                  <a16:creationId xmlns:a16="http://schemas.microsoft.com/office/drawing/2014/main" id="{7D7C30CF-E632-1225-60A0-72209EFF7FE6}"/>
                </a:ext>
              </a:extLst>
            </p:cNvPr>
            <p:cNvSpPr txBox="1"/>
            <p:nvPr/>
          </p:nvSpPr>
          <p:spPr>
            <a:xfrm>
              <a:off x="1117328" y="3064852"/>
              <a:ext cx="4237021" cy="65357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211367" lvl="1">
                <a:lnSpc>
                  <a:spcPct val="150000"/>
                </a:lnSpc>
              </a:pPr>
              <a:endPara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Integrate water pipeline model.</a:t>
              </a: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Enhanced communications.</a:t>
              </a: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Improved user appointments. </a:t>
              </a: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Mobile application.</a:t>
              </a: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Documentation management.</a:t>
              </a: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r>
                <a:rPr lang="en-US" sz="24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Testing &amp; product finalize.</a:t>
              </a: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endParaRPr lang="en-US" sz="19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422733" lvl="1" indent="-211366">
                <a:lnSpc>
                  <a:spcPct val="150000"/>
                </a:lnSpc>
                <a:buFont typeface="Arial"/>
                <a:buChar char="•"/>
              </a:pPr>
              <a:endParaRPr lang="en-US" sz="19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11367" lvl="1">
                <a:lnSpc>
                  <a:spcPct val="150000"/>
                </a:lnSpc>
              </a:pPr>
              <a:endParaRPr lang="en-US" sz="19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ct val="150000"/>
                </a:lnSpc>
              </a:pPr>
              <a:endParaRPr lang="en-US" sz="19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ct val="150000"/>
                </a:lnSpc>
              </a:pPr>
              <a:endParaRPr lang="en-US" sz="19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>
                <a:lnSpc>
                  <a:spcPct val="150000"/>
                </a:lnSpc>
              </a:pPr>
              <a:endParaRPr lang="en-US" sz="1958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2" name="Graphic 21" descr="Cubicles with laptops and chairs">
              <a:extLst>
                <a:ext uri="{FF2B5EF4-FFF2-40B4-BE49-F238E27FC236}">
                  <a16:creationId xmlns:a16="http://schemas.microsoft.com/office/drawing/2014/main" id="{F64896CC-CB34-7B06-54D6-11197F0AA6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-425692" y="6189056"/>
              <a:ext cx="5780041" cy="3251273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251A4B-0F39-9A13-673F-F586CB074383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25" name="Freeform 4">
              <a:extLst>
                <a:ext uri="{FF2B5EF4-FFF2-40B4-BE49-F238E27FC236}">
                  <a16:creationId xmlns:a16="http://schemas.microsoft.com/office/drawing/2014/main" id="{D1150907-5C8D-C772-5C63-65D4BC6BE091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D6732686-AC18-33D5-4882-143ACBBAB396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EF423-0121-0771-64ED-7D156C9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8B994787-E159-837A-4BA5-9CF8161D4D9F}"/>
              </a:ext>
            </a:extLst>
          </p:cNvPr>
          <p:cNvSpPr/>
          <p:nvPr/>
        </p:nvSpPr>
        <p:spPr>
          <a:xfrm>
            <a:off x="1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008F4C9-98C0-92FE-5A5F-8E36C556B8F9}"/>
              </a:ext>
            </a:extLst>
          </p:cNvPr>
          <p:cNvSpPr txBox="1"/>
          <p:nvPr/>
        </p:nvSpPr>
        <p:spPr>
          <a:xfrm>
            <a:off x="5750826" y="1306549"/>
            <a:ext cx="3136374" cy="67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830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TESTING 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0A76DA7-C135-0F09-290F-BA53AACDFFF8}"/>
              </a:ext>
            </a:extLst>
          </p:cNvPr>
          <p:cNvSpPr txBox="1"/>
          <p:nvPr/>
        </p:nvSpPr>
        <p:spPr>
          <a:xfrm>
            <a:off x="8887200" y="1306549"/>
            <a:ext cx="4032025" cy="67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2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STRATEGY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47BF076B-9BAE-A255-CEDD-98656302704F}"/>
              </a:ext>
            </a:extLst>
          </p:cNvPr>
          <p:cNvSpPr txBox="1"/>
          <p:nvPr/>
        </p:nvSpPr>
        <p:spPr>
          <a:xfrm>
            <a:off x="1483626" y="2586122"/>
            <a:ext cx="8534400" cy="6540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API Endpoints Unit Testing (Postman)</a:t>
            </a:r>
            <a:endParaRPr lang="en-US" sz="4000" dirty="0">
              <a:solidFill>
                <a:schemeClr val="bg1">
                  <a:lumMod val="8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BFCAF9-1D2C-AD34-A08B-40A0D1816BA2}"/>
              </a:ext>
            </a:extLst>
          </p:cNvPr>
          <p:cNvSpPr txBox="1"/>
          <p:nvPr/>
        </p:nvSpPr>
        <p:spPr>
          <a:xfrm>
            <a:off x="13335000" y="3240147"/>
            <a:ext cx="3429000" cy="430887"/>
          </a:xfrm>
          <a:custGeom>
            <a:avLst/>
            <a:gdLst>
              <a:gd name="csX0" fmla="*/ 0 w 3429000"/>
              <a:gd name="csY0" fmla="*/ 0 h 430887"/>
              <a:gd name="csX1" fmla="*/ 605790 w 3429000"/>
              <a:gd name="csY1" fmla="*/ 0 h 430887"/>
              <a:gd name="csX2" fmla="*/ 1245870 w 3429000"/>
              <a:gd name="csY2" fmla="*/ 0 h 430887"/>
              <a:gd name="csX3" fmla="*/ 1885950 w 3429000"/>
              <a:gd name="csY3" fmla="*/ 0 h 430887"/>
              <a:gd name="csX4" fmla="*/ 2491740 w 3429000"/>
              <a:gd name="csY4" fmla="*/ 0 h 430887"/>
              <a:gd name="csX5" fmla="*/ 3429000 w 3429000"/>
              <a:gd name="csY5" fmla="*/ 0 h 430887"/>
              <a:gd name="csX6" fmla="*/ 3429000 w 3429000"/>
              <a:gd name="csY6" fmla="*/ 430887 h 430887"/>
              <a:gd name="csX7" fmla="*/ 2857500 w 3429000"/>
              <a:gd name="csY7" fmla="*/ 430887 h 430887"/>
              <a:gd name="csX8" fmla="*/ 2217420 w 3429000"/>
              <a:gd name="csY8" fmla="*/ 430887 h 430887"/>
              <a:gd name="csX9" fmla="*/ 1577340 w 3429000"/>
              <a:gd name="csY9" fmla="*/ 430887 h 430887"/>
              <a:gd name="csX10" fmla="*/ 971550 w 3429000"/>
              <a:gd name="csY10" fmla="*/ 430887 h 430887"/>
              <a:gd name="csX11" fmla="*/ 0 w 3429000"/>
              <a:gd name="csY11" fmla="*/ 430887 h 430887"/>
              <a:gd name="csX12" fmla="*/ 0 w 3429000"/>
              <a:gd name="csY12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430887" fill="none" extrusionOk="0">
                <a:moveTo>
                  <a:pt x="0" y="0"/>
                </a:moveTo>
                <a:cubicBezTo>
                  <a:pt x="224919" y="-71320"/>
                  <a:pt x="483470" y="42995"/>
                  <a:pt x="605790" y="0"/>
                </a:cubicBezTo>
                <a:cubicBezTo>
                  <a:pt x="728110" y="-42995"/>
                  <a:pt x="979777" y="15781"/>
                  <a:pt x="1245870" y="0"/>
                </a:cubicBezTo>
                <a:cubicBezTo>
                  <a:pt x="1511963" y="-15781"/>
                  <a:pt x="1638124" y="36117"/>
                  <a:pt x="1885950" y="0"/>
                </a:cubicBezTo>
                <a:cubicBezTo>
                  <a:pt x="2133776" y="-36117"/>
                  <a:pt x="2251808" y="69692"/>
                  <a:pt x="2491740" y="0"/>
                </a:cubicBezTo>
                <a:cubicBezTo>
                  <a:pt x="2731672" y="-69692"/>
                  <a:pt x="3028778" y="25855"/>
                  <a:pt x="3429000" y="0"/>
                </a:cubicBezTo>
                <a:cubicBezTo>
                  <a:pt x="3430044" y="198829"/>
                  <a:pt x="3395692" y="290206"/>
                  <a:pt x="3429000" y="430887"/>
                </a:cubicBezTo>
                <a:cubicBezTo>
                  <a:pt x="3172905" y="491766"/>
                  <a:pt x="3093736" y="410416"/>
                  <a:pt x="2857500" y="430887"/>
                </a:cubicBezTo>
                <a:cubicBezTo>
                  <a:pt x="2621264" y="451358"/>
                  <a:pt x="2431855" y="366402"/>
                  <a:pt x="2217420" y="430887"/>
                </a:cubicBezTo>
                <a:cubicBezTo>
                  <a:pt x="2002985" y="495372"/>
                  <a:pt x="1854120" y="403253"/>
                  <a:pt x="1577340" y="430887"/>
                </a:cubicBezTo>
                <a:cubicBezTo>
                  <a:pt x="1300560" y="458521"/>
                  <a:pt x="1257862" y="375637"/>
                  <a:pt x="971550" y="430887"/>
                </a:cubicBezTo>
                <a:cubicBezTo>
                  <a:pt x="685238" y="486137"/>
                  <a:pt x="366229" y="326945"/>
                  <a:pt x="0" y="430887"/>
                </a:cubicBezTo>
                <a:cubicBezTo>
                  <a:pt x="-45037" y="242186"/>
                  <a:pt x="48794" y="183686"/>
                  <a:pt x="0" y="0"/>
                </a:cubicBezTo>
                <a:close/>
              </a:path>
              <a:path w="3429000" h="430887" stroke="0" extrusionOk="0">
                <a:moveTo>
                  <a:pt x="0" y="0"/>
                </a:moveTo>
                <a:cubicBezTo>
                  <a:pt x="262347" y="-13994"/>
                  <a:pt x="326830" y="41591"/>
                  <a:pt x="537210" y="0"/>
                </a:cubicBezTo>
                <a:cubicBezTo>
                  <a:pt x="747590" y="-41591"/>
                  <a:pt x="904857" y="6366"/>
                  <a:pt x="1177290" y="0"/>
                </a:cubicBezTo>
                <a:cubicBezTo>
                  <a:pt x="1449723" y="-6366"/>
                  <a:pt x="1480529" y="22159"/>
                  <a:pt x="1714500" y="0"/>
                </a:cubicBezTo>
                <a:cubicBezTo>
                  <a:pt x="1948471" y="-22159"/>
                  <a:pt x="2083227" y="65679"/>
                  <a:pt x="2354580" y="0"/>
                </a:cubicBezTo>
                <a:cubicBezTo>
                  <a:pt x="2625933" y="-65679"/>
                  <a:pt x="2734963" y="37113"/>
                  <a:pt x="2891790" y="0"/>
                </a:cubicBezTo>
                <a:cubicBezTo>
                  <a:pt x="3048617" y="-37113"/>
                  <a:pt x="3287122" y="13431"/>
                  <a:pt x="3429000" y="0"/>
                </a:cubicBezTo>
                <a:cubicBezTo>
                  <a:pt x="3432669" y="126616"/>
                  <a:pt x="3417807" y="243346"/>
                  <a:pt x="3429000" y="430887"/>
                </a:cubicBezTo>
                <a:cubicBezTo>
                  <a:pt x="3131019" y="483580"/>
                  <a:pt x="3074922" y="396712"/>
                  <a:pt x="2788920" y="430887"/>
                </a:cubicBezTo>
                <a:cubicBezTo>
                  <a:pt x="2502918" y="465062"/>
                  <a:pt x="2456365" y="396732"/>
                  <a:pt x="2217420" y="430887"/>
                </a:cubicBezTo>
                <a:cubicBezTo>
                  <a:pt x="1978475" y="465042"/>
                  <a:pt x="1875569" y="368074"/>
                  <a:pt x="1611630" y="430887"/>
                </a:cubicBezTo>
                <a:cubicBezTo>
                  <a:pt x="1347691" y="493700"/>
                  <a:pt x="1128012" y="392215"/>
                  <a:pt x="971550" y="430887"/>
                </a:cubicBezTo>
                <a:cubicBezTo>
                  <a:pt x="815088" y="469559"/>
                  <a:pt x="470435" y="401222"/>
                  <a:pt x="0" y="430887"/>
                </a:cubicBezTo>
                <a:cubicBezTo>
                  <a:pt x="-24979" y="344138"/>
                  <a:pt x="15109" y="206579"/>
                  <a:pt x="0" y="0"/>
                </a:cubicBezTo>
                <a:close/>
              </a:path>
            </a:pathLst>
          </a:custGeom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86293636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/analyze Endpoint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9B7BF9-0078-4516-ED05-37872992F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294" y="3896665"/>
            <a:ext cx="7478205" cy="4480477"/>
          </a:xfrm>
          <a:prstGeom prst="roundRect">
            <a:avLst>
              <a:gd name="adj" fmla="val 3620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D974F1-D8DC-18C7-B639-D1DD1D392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77" y="4114985"/>
            <a:ext cx="6561903" cy="275508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587A07-D3B2-BC01-9C0D-B36067CE31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303"/>
          <a:stretch>
            <a:fillRect/>
          </a:stretch>
        </p:blipFill>
        <p:spPr>
          <a:xfrm>
            <a:off x="4383428" y="6126039"/>
            <a:ext cx="7868232" cy="3897068"/>
          </a:xfrm>
          <a:prstGeom prst="roundRect">
            <a:avLst>
              <a:gd name="adj" fmla="val 5245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17A1BE0B-7096-3E9F-2556-5C28C399EF2D}"/>
              </a:ext>
            </a:extLst>
          </p:cNvPr>
          <p:cNvSpPr txBox="1"/>
          <p:nvPr/>
        </p:nvSpPr>
        <p:spPr>
          <a:xfrm>
            <a:off x="1892528" y="3542766"/>
            <a:ext cx="3429000" cy="430887"/>
          </a:xfrm>
          <a:custGeom>
            <a:avLst/>
            <a:gdLst>
              <a:gd name="csX0" fmla="*/ 0 w 3429000"/>
              <a:gd name="csY0" fmla="*/ 0 h 430887"/>
              <a:gd name="csX1" fmla="*/ 537210 w 3429000"/>
              <a:gd name="csY1" fmla="*/ 0 h 430887"/>
              <a:gd name="csX2" fmla="*/ 1108710 w 3429000"/>
              <a:gd name="csY2" fmla="*/ 0 h 430887"/>
              <a:gd name="csX3" fmla="*/ 1714500 w 3429000"/>
              <a:gd name="csY3" fmla="*/ 0 h 430887"/>
              <a:gd name="csX4" fmla="*/ 2183130 w 3429000"/>
              <a:gd name="csY4" fmla="*/ 0 h 430887"/>
              <a:gd name="csX5" fmla="*/ 2823210 w 3429000"/>
              <a:gd name="csY5" fmla="*/ 0 h 430887"/>
              <a:gd name="csX6" fmla="*/ 3429000 w 3429000"/>
              <a:gd name="csY6" fmla="*/ 0 h 430887"/>
              <a:gd name="csX7" fmla="*/ 3429000 w 3429000"/>
              <a:gd name="csY7" fmla="*/ 430887 h 430887"/>
              <a:gd name="csX8" fmla="*/ 2823210 w 3429000"/>
              <a:gd name="csY8" fmla="*/ 430887 h 430887"/>
              <a:gd name="csX9" fmla="*/ 2217420 w 3429000"/>
              <a:gd name="csY9" fmla="*/ 430887 h 430887"/>
              <a:gd name="csX10" fmla="*/ 1714500 w 3429000"/>
              <a:gd name="csY10" fmla="*/ 430887 h 430887"/>
              <a:gd name="csX11" fmla="*/ 1245870 w 3429000"/>
              <a:gd name="csY11" fmla="*/ 430887 h 430887"/>
              <a:gd name="csX12" fmla="*/ 674370 w 3429000"/>
              <a:gd name="csY12" fmla="*/ 430887 h 430887"/>
              <a:gd name="csX13" fmla="*/ 0 w 3429000"/>
              <a:gd name="csY13" fmla="*/ 430887 h 430887"/>
              <a:gd name="csX14" fmla="*/ 0 w 3429000"/>
              <a:gd name="csY14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29000" h="430887" fill="none" extrusionOk="0">
                <a:moveTo>
                  <a:pt x="0" y="0"/>
                </a:moveTo>
                <a:cubicBezTo>
                  <a:pt x="186605" y="-21231"/>
                  <a:pt x="384247" y="15623"/>
                  <a:pt x="537210" y="0"/>
                </a:cubicBezTo>
                <a:cubicBezTo>
                  <a:pt x="690173" y="-15623"/>
                  <a:pt x="971439" y="45871"/>
                  <a:pt x="1108710" y="0"/>
                </a:cubicBezTo>
                <a:cubicBezTo>
                  <a:pt x="1245981" y="-45871"/>
                  <a:pt x="1464131" y="20538"/>
                  <a:pt x="1714500" y="0"/>
                </a:cubicBezTo>
                <a:cubicBezTo>
                  <a:pt x="1964869" y="-20538"/>
                  <a:pt x="2063380" y="48979"/>
                  <a:pt x="2183130" y="0"/>
                </a:cubicBezTo>
                <a:cubicBezTo>
                  <a:pt x="2302880" y="-48979"/>
                  <a:pt x="2617994" y="291"/>
                  <a:pt x="2823210" y="0"/>
                </a:cubicBezTo>
                <a:cubicBezTo>
                  <a:pt x="3028426" y="-291"/>
                  <a:pt x="3246220" y="35538"/>
                  <a:pt x="3429000" y="0"/>
                </a:cubicBezTo>
                <a:cubicBezTo>
                  <a:pt x="3429345" y="99991"/>
                  <a:pt x="3426833" y="293590"/>
                  <a:pt x="3429000" y="430887"/>
                </a:cubicBezTo>
                <a:cubicBezTo>
                  <a:pt x="3168860" y="457287"/>
                  <a:pt x="3011120" y="403358"/>
                  <a:pt x="2823210" y="430887"/>
                </a:cubicBezTo>
                <a:cubicBezTo>
                  <a:pt x="2635300" y="458416"/>
                  <a:pt x="2412727" y="363557"/>
                  <a:pt x="2217420" y="430887"/>
                </a:cubicBezTo>
                <a:cubicBezTo>
                  <a:pt x="2022113" y="498217"/>
                  <a:pt x="1964115" y="390833"/>
                  <a:pt x="1714500" y="430887"/>
                </a:cubicBezTo>
                <a:cubicBezTo>
                  <a:pt x="1464885" y="470941"/>
                  <a:pt x="1441098" y="421292"/>
                  <a:pt x="1245870" y="430887"/>
                </a:cubicBezTo>
                <a:cubicBezTo>
                  <a:pt x="1050642" y="440482"/>
                  <a:pt x="897619" y="364319"/>
                  <a:pt x="674370" y="430887"/>
                </a:cubicBezTo>
                <a:cubicBezTo>
                  <a:pt x="451121" y="497455"/>
                  <a:pt x="167827" y="423020"/>
                  <a:pt x="0" y="430887"/>
                </a:cubicBezTo>
                <a:cubicBezTo>
                  <a:pt x="-48154" y="329733"/>
                  <a:pt x="37734" y="190458"/>
                  <a:pt x="0" y="0"/>
                </a:cubicBezTo>
                <a:close/>
              </a:path>
              <a:path w="3429000" h="430887" stroke="0" extrusionOk="0">
                <a:moveTo>
                  <a:pt x="0" y="0"/>
                </a:moveTo>
                <a:cubicBezTo>
                  <a:pt x="299521" y="-34035"/>
                  <a:pt x="445652" y="13865"/>
                  <a:pt x="605790" y="0"/>
                </a:cubicBezTo>
                <a:cubicBezTo>
                  <a:pt x="765928" y="-13865"/>
                  <a:pt x="1034567" y="46821"/>
                  <a:pt x="1245870" y="0"/>
                </a:cubicBezTo>
                <a:cubicBezTo>
                  <a:pt x="1457173" y="-46821"/>
                  <a:pt x="1612135" y="14950"/>
                  <a:pt x="1851660" y="0"/>
                </a:cubicBezTo>
                <a:cubicBezTo>
                  <a:pt x="2091185" y="-14950"/>
                  <a:pt x="2175931" y="67373"/>
                  <a:pt x="2491740" y="0"/>
                </a:cubicBezTo>
                <a:cubicBezTo>
                  <a:pt x="2807549" y="-67373"/>
                  <a:pt x="3196394" y="49065"/>
                  <a:pt x="3429000" y="0"/>
                </a:cubicBezTo>
                <a:cubicBezTo>
                  <a:pt x="3467995" y="207633"/>
                  <a:pt x="3382464" y="258257"/>
                  <a:pt x="3429000" y="430887"/>
                </a:cubicBezTo>
                <a:cubicBezTo>
                  <a:pt x="3300505" y="460529"/>
                  <a:pt x="3007058" y="399594"/>
                  <a:pt x="2891790" y="430887"/>
                </a:cubicBezTo>
                <a:cubicBezTo>
                  <a:pt x="2776522" y="462180"/>
                  <a:pt x="2553799" y="376149"/>
                  <a:pt x="2423160" y="430887"/>
                </a:cubicBezTo>
                <a:cubicBezTo>
                  <a:pt x="2292521" y="485625"/>
                  <a:pt x="1975383" y="392431"/>
                  <a:pt x="1851660" y="430887"/>
                </a:cubicBezTo>
                <a:cubicBezTo>
                  <a:pt x="1727937" y="469343"/>
                  <a:pt x="1526545" y="422035"/>
                  <a:pt x="1383030" y="430887"/>
                </a:cubicBezTo>
                <a:cubicBezTo>
                  <a:pt x="1239515" y="439739"/>
                  <a:pt x="1032495" y="366110"/>
                  <a:pt x="742950" y="430887"/>
                </a:cubicBezTo>
                <a:cubicBezTo>
                  <a:pt x="453405" y="495664"/>
                  <a:pt x="195672" y="403191"/>
                  <a:pt x="0" y="430887"/>
                </a:cubicBezTo>
                <a:cubicBezTo>
                  <a:pt x="-9610" y="263795"/>
                  <a:pt x="11604" y="189117"/>
                  <a:pt x="0" y="0"/>
                </a:cubicBezTo>
                <a:close/>
              </a:path>
            </a:pathLst>
          </a:custGeom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232788417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backend Api testing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1C9FB9-89CB-3E8C-C568-F52A287B9F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909323" y="2462439"/>
            <a:ext cx="912887" cy="9128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36AFF53-36FE-EAD4-B29E-A56BFBF70254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2EAE87B4-8BAE-5D59-3E30-3BBDBDB257EB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10">
              <a:extLst>
                <a:ext uri="{FF2B5EF4-FFF2-40B4-BE49-F238E27FC236}">
                  <a16:creationId xmlns:a16="http://schemas.microsoft.com/office/drawing/2014/main" id="{F12D2699-1BA3-95DD-4B94-B86A53CD34F0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727F7AF3-76E7-A25C-AB34-D093CA432180}"/>
              </a:ext>
            </a:extLst>
          </p:cNvPr>
          <p:cNvSpPr txBox="1"/>
          <p:nvPr/>
        </p:nvSpPr>
        <p:spPr>
          <a:xfrm>
            <a:off x="7086637" y="5610824"/>
            <a:ext cx="3429000" cy="430887"/>
          </a:xfrm>
          <a:custGeom>
            <a:avLst/>
            <a:gdLst>
              <a:gd name="csX0" fmla="*/ 0 w 3429000"/>
              <a:gd name="csY0" fmla="*/ 0 h 430887"/>
              <a:gd name="csX1" fmla="*/ 571500 w 3429000"/>
              <a:gd name="csY1" fmla="*/ 0 h 430887"/>
              <a:gd name="csX2" fmla="*/ 1040130 w 3429000"/>
              <a:gd name="csY2" fmla="*/ 0 h 430887"/>
              <a:gd name="csX3" fmla="*/ 1543050 w 3429000"/>
              <a:gd name="csY3" fmla="*/ 0 h 430887"/>
              <a:gd name="csX4" fmla="*/ 2183130 w 3429000"/>
              <a:gd name="csY4" fmla="*/ 0 h 430887"/>
              <a:gd name="csX5" fmla="*/ 2686050 w 3429000"/>
              <a:gd name="csY5" fmla="*/ 0 h 430887"/>
              <a:gd name="csX6" fmla="*/ 3429000 w 3429000"/>
              <a:gd name="csY6" fmla="*/ 0 h 430887"/>
              <a:gd name="csX7" fmla="*/ 3429000 w 3429000"/>
              <a:gd name="csY7" fmla="*/ 430887 h 430887"/>
              <a:gd name="csX8" fmla="*/ 2891790 w 3429000"/>
              <a:gd name="csY8" fmla="*/ 430887 h 430887"/>
              <a:gd name="csX9" fmla="*/ 2320290 w 3429000"/>
              <a:gd name="csY9" fmla="*/ 430887 h 430887"/>
              <a:gd name="csX10" fmla="*/ 1748790 w 3429000"/>
              <a:gd name="csY10" fmla="*/ 430887 h 430887"/>
              <a:gd name="csX11" fmla="*/ 1211580 w 3429000"/>
              <a:gd name="csY11" fmla="*/ 430887 h 430887"/>
              <a:gd name="csX12" fmla="*/ 640080 w 3429000"/>
              <a:gd name="csY12" fmla="*/ 430887 h 430887"/>
              <a:gd name="csX13" fmla="*/ 0 w 3429000"/>
              <a:gd name="csY13" fmla="*/ 430887 h 430887"/>
              <a:gd name="csX14" fmla="*/ 0 w 3429000"/>
              <a:gd name="csY14" fmla="*/ 0 h 430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429000" h="430887" fill="none" extrusionOk="0">
                <a:moveTo>
                  <a:pt x="0" y="0"/>
                </a:moveTo>
                <a:cubicBezTo>
                  <a:pt x="122127" y="-17296"/>
                  <a:pt x="447590" y="16215"/>
                  <a:pt x="571500" y="0"/>
                </a:cubicBezTo>
                <a:cubicBezTo>
                  <a:pt x="695410" y="-16215"/>
                  <a:pt x="903336" y="37940"/>
                  <a:pt x="1040130" y="0"/>
                </a:cubicBezTo>
                <a:cubicBezTo>
                  <a:pt x="1176924" y="-37940"/>
                  <a:pt x="1291809" y="54275"/>
                  <a:pt x="1543050" y="0"/>
                </a:cubicBezTo>
                <a:cubicBezTo>
                  <a:pt x="1794291" y="-54275"/>
                  <a:pt x="2008858" y="21407"/>
                  <a:pt x="2183130" y="0"/>
                </a:cubicBezTo>
                <a:cubicBezTo>
                  <a:pt x="2357402" y="-21407"/>
                  <a:pt x="2566889" y="28701"/>
                  <a:pt x="2686050" y="0"/>
                </a:cubicBezTo>
                <a:cubicBezTo>
                  <a:pt x="2805211" y="-28701"/>
                  <a:pt x="3132316" y="2045"/>
                  <a:pt x="3429000" y="0"/>
                </a:cubicBezTo>
                <a:cubicBezTo>
                  <a:pt x="3455338" y="127184"/>
                  <a:pt x="3410718" y="289694"/>
                  <a:pt x="3429000" y="430887"/>
                </a:cubicBezTo>
                <a:cubicBezTo>
                  <a:pt x="3264346" y="453965"/>
                  <a:pt x="3031104" y="397277"/>
                  <a:pt x="2891790" y="430887"/>
                </a:cubicBezTo>
                <a:cubicBezTo>
                  <a:pt x="2752476" y="464497"/>
                  <a:pt x="2515911" y="418249"/>
                  <a:pt x="2320290" y="430887"/>
                </a:cubicBezTo>
                <a:cubicBezTo>
                  <a:pt x="2124669" y="443525"/>
                  <a:pt x="1998092" y="385113"/>
                  <a:pt x="1748790" y="430887"/>
                </a:cubicBezTo>
                <a:cubicBezTo>
                  <a:pt x="1499488" y="476661"/>
                  <a:pt x="1340523" y="427529"/>
                  <a:pt x="1211580" y="430887"/>
                </a:cubicBezTo>
                <a:cubicBezTo>
                  <a:pt x="1082637" y="434245"/>
                  <a:pt x="885985" y="423026"/>
                  <a:pt x="640080" y="430887"/>
                </a:cubicBezTo>
                <a:cubicBezTo>
                  <a:pt x="394175" y="438748"/>
                  <a:pt x="143098" y="391606"/>
                  <a:pt x="0" y="430887"/>
                </a:cubicBezTo>
                <a:cubicBezTo>
                  <a:pt x="-1063" y="225467"/>
                  <a:pt x="3332" y="134297"/>
                  <a:pt x="0" y="0"/>
                </a:cubicBezTo>
                <a:close/>
              </a:path>
              <a:path w="3429000" h="430887" stroke="0" extrusionOk="0">
                <a:moveTo>
                  <a:pt x="0" y="0"/>
                </a:moveTo>
                <a:cubicBezTo>
                  <a:pt x="214924" y="-53042"/>
                  <a:pt x="372944" y="30654"/>
                  <a:pt x="537210" y="0"/>
                </a:cubicBezTo>
                <a:cubicBezTo>
                  <a:pt x="701476" y="-30654"/>
                  <a:pt x="978882" y="19074"/>
                  <a:pt x="1177290" y="0"/>
                </a:cubicBezTo>
                <a:cubicBezTo>
                  <a:pt x="1375698" y="-19074"/>
                  <a:pt x="1485889" y="41491"/>
                  <a:pt x="1748790" y="0"/>
                </a:cubicBezTo>
                <a:cubicBezTo>
                  <a:pt x="2011691" y="-41491"/>
                  <a:pt x="2131181" y="58720"/>
                  <a:pt x="2251710" y="0"/>
                </a:cubicBezTo>
                <a:cubicBezTo>
                  <a:pt x="2372239" y="-58720"/>
                  <a:pt x="2607571" y="39176"/>
                  <a:pt x="2788920" y="0"/>
                </a:cubicBezTo>
                <a:cubicBezTo>
                  <a:pt x="2970269" y="-39176"/>
                  <a:pt x="3133858" y="64546"/>
                  <a:pt x="3429000" y="0"/>
                </a:cubicBezTo>
                <a:cubicBezTo>
                  <a:pt x="3437571" y="131554"/>
                  <a:pt x="3424413" y="262249"/>
                  <a:pt x="3429000" y="430887"/>
                </a:cubicBezTo>
                <a:cubicBezTo>
                  <a:pt x="3221063" y="433950"/>
                  <a:pt x="2969454" y="391877"/>
                  <a:pt x="2788920" y="430887"/>
                </a:cubicBezTo>
                <a:cubicBezTo>
                  <a:pt x="2608386" y="469897"/>
                  <a:pt x="2365822" y="393742"/>
                  <a:pt x="2217420" y="430887"/>
                </a:cubicBezTo>
                <a:cubicBezTo>
                  <a:pt x="2069018" y="468032"/>
                  <a:pt x="1820681" y="419299"/>
                  <a:pt x="1645920" y="430887"/>
                </a:cubicBezTo>
                <a:cubicBezTo>
                  <a:pt x="1471159" y="442475"/>
                  <a:pt x="1370642" y="421128"/>
                  <a:pt x="1177290" y="430887"/>
                </a:cubicBezTo>
                <a:cubicBezTo>
                  <a:pt x="983938" y="440646"/>
                  <a:pt x="819313" y="395188"/>
                  <a:pt x="640080" y="430887"/>
                </a:cubicBezTo>
                <a:cubicBezTo>
                  <a:pt x="460847" y="466586"/>
                  <a:pt x="297171" y="394285"/>
                  <a:pt x="0" y="430887"/>
                </a:cubicBezTo>
                <a:cubicBezTo>
                  <a:pt x="-11279" y="223594"/>
                  <a:pt x="24710" y="154414"/>
                  <a:pt x="0" y="0"/>
                </a:cubicBezTo>
                <a:close/>
              </a:path>
            </a:pathLst>
          </a:custGeom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95162496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/health Endpoint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209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>
            <a:extLst>
              <a:ext uri="{FF2B5EF4-FFF2-40B4-BE49-F238E27FC236}">
                <a16:creationId xmlns:a16="http://schemas.microsoft.com/office/drawing/2014/main" id="{B5E8C438-6E07-B978-F1E4-C92EDC316F23}"/>
              </a:ext>
            </a:extLst>
          </p:cNvPr>
          <p:cNvSpPr/>
          <p:nvPr/>
        </p:nvSpPr>
        <p:spPr>
          <a:xfrm>
            <a:off x="1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03BB2D5-BD1D-6816-1D97-5C6671A32A82}"/>
              </a:ext>
            </a:extLst>
          </p:cNvPr>
          <p:cNvSpPr txBox="1"/>
          <p:nvPr/>
        </p:nvSpPr>
        <p:spPr>
          <a:xfrm>
            <a:off x="2639774" y="2066033"/>
            <a:ext cx="8534400" cy="65402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512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 Frontend Unit Testing using Vitest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B6F59F-8C47-CC14-8AD8-68F1E9EAA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13" y="2831627"/>
            <a:ext cx="8210198" cy="5489623"/>
          </a:xfrm>
          <a:prstGeom prst="roundRect">
            <a:avLst>
              <a:gd name="adj" fmla="val 8339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8ABBD3-B3A9-F696-5A76-D9D57A3B7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02" y="2786968"/>
            <a:ext cx="8210198" cy="5534282"/>
          </a:xfrm>
          <a:prstGeom prst="roundRect">
            <a:avLst>
              <a:gd name="adj" fmla="val 8406"/>
            </a:avLst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4640E3EA-CD67-F7D4-E6FA-81A69D75A597}"/>
              </a:ext>
            </a:extLst>
          </p:cNvPr>
          <p:cNvSpPr txBox="1"/>
          <p:nvPr/>
        </p:nvSpPr>
        <p:spPr>
          <a:xfrm>
            <a:off x="1299664" y="8544388"/>
            <a:ext cx="7108896" cy="4308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Unit testing example.test.ts &amp; utils.test.ts testing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A624BF83-D428-3595-0744-DC3FA9AC939F}"/>
              </a:ext>
            </a:extLst>
          </p:cNvPr>
          <p:cNvSpPr txBox="1"/>
          <p:nvPr/>
        </p:nvSpPr>
        <p:spPr>
          <a:xfrm>
            <a:off x="10114853" y="8544388"/>
            <a:ext cx="7108896" cy="4308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dashboard unit testing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A9AF9-55E9-874D-4667-948D52E1FE40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21" name="Freeform 4">
              <a:extLst>
                <a:ext uri="{FF2B5EF4-FFF2-40B4-BE49-F238E27FC236}">
                  <a16:creationId xmlns:a16="http://schemas.microsoft.com/office/drawing/2014/main" id="{30D7B60A-E444-94BB-2BED-FF37E0EC9BF3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F1B53E8E-3102-7B59-9670-FBC12990DE64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3826CC26-55E9-9044-B1DE-5AAB209AE7CC}"/>
              </a:ext>
            </a:extLst>
          </p:cNvPr>
          <p:cNvSpPr/>
          <p:nvPr/>
        </p:nvSpPr>
        <p:spPr>
          <a:xfrm>
            <a:off x="1" y="-1"/>
            <a:ext cx="18288000" cy="10287002"/>
          </a:xfrm>
          <a:custGeom>
            <a:avLst/>
            <a:gdLst/>
            <a:ahLst/>
            <a:cxnLst/>
            <a:rect l="l" t="t" r="r" b="b"/>
            <a:pathLst>
              <a:path w="18456571" h="10431901">
                <a:moveTo>
                  <a:pt x="0" y="0"/>
                </a:moveTo>
                <a:lnTo>
                  <a:pt x="18456571" y="0"/>
                </a:lnTo>
                <a:lnTo>
                  <a:pt x="18456571" y="10431901"/>
                </a:lnTo>
                <a:lnTo>
                  <a:pt x="0" y="10431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t="-9904" r="-12775" b="-232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990108" y="7290349"/>
            <a:ext cx="1789958" cy="1757413"/>
          </a:xfrm>
          <a:custGeom>
            <a:avLst/>
            <a:gdLst/>
            <a:ahLst/>
            <a:cxnLst/>
            <a:rect l="l" t="t" r="r" b="b"/>
            <a:pathLst>
              <a:path w="1789958" h="1757413">
                <a:moveTo>
                  <a:pt x="0" y="0"/>
                </a:moveTo>
                <a:lnTo>
                  <a:pt x="1789957" y="0"/>
                </a:lnTo>
                <a:lnTo>
                  <a:pt x="1789957" y="1757413"/>
                </a:lnTo>
                <a:lnTo>
                  <a:pt x="0" y="17574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752083" y="1061652"/>
            <a:ext cx="9019462" cy="80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04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&amp;   DOCUMENTATION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49685" y="1072530"/>
            <a:ext cx="6798762" cy="80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4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84E3F8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DEPLOYMENT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11EC66-1D96-E9DB-B810-FFBA6A659A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971" y="8521245"/>
            <a:ext cx="1487711" cy="14877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7271571-C95F-87B1-D07E-A83D35BBE6B5}"/>
              </a:ext>
            </a:extLst>
          </p:cNvPr>
          <p:cNvGrpSpPr/>
          <p:nvPr/>
        </p:nvGrpSpPr>
        <p:grpSpPr>
          <a:xfrm>
            <a:off x="5168110" y="6312172"/>
            <a:ext cx="8557805" cy="2148535"/>
            <a:chOff x="7066418" y="7997088"/>
            <a:chExt cx="8557805" cy="2148535"/>
          </a:xfrm>
        </p:grpSpPr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C7B8C5F-B922-28A1-BE22-92ED75C23FD5}"/>
                </a:ext>
              </a:extLst>
            </p:cNvPr>
            <p:cNvSpPr txBox="1"/>
            <p:nvPr/>
          </p:nvSpPr>
          <p:spPr>
            <a:xfrm>
              <a:off x="7066418" y="7997088"/>
              <a:ext cx="4320904" cy="4784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68"/>
                </a:lnSpc>
                <a:spcBef>
                  <a:spcPct val="0"/>
                </a:spcBef>
              </a:pPr>
              <a:r>
                <a:rPr lang="en-US" sz="2800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Click to GitHub Repo: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736B54A-6F35-BBF3-238B-8762686C22D4}"/>
                </a:ext>
              </a:extLst>
            </p:cNvPr>
            <p:cNvGrpSpPr/>
            <p:nvPr/>
          </p:nvGrpSpPr>
          <p:grpSpPr>
            <a:xfrm>
              <a:off x="7150420" y="8541009"/>
              <a:ext cx="8473803" cy="1604614"/>
              <a:chOff x="7985397" y="6951833"/>
              <a:chExt cx="8473803" cy="1604614"/>
            </a:xfrm>
          </p:grpSpPr>
          <p:sp>
            <p:nvSpPr>
              <p:cNvPr id="13" name="TextBox 12">
                <a:hlinkClick r:id="rId5"/>
                <a:extLst>
                  <a:ext uri="{FF2B5EF4-FFF2-40B4-BE49-F238E27FC236}">
                    <a16:creationId xmlns:a16="http://schemas.microsoft.com/office/drawing/2014/main" id="{D7A14ADA-2F4B-D4A1-36B0-E58343A7F926}"/>
                  </a:ext>
                </a:extLst>
              </p:cNvPr>
              <p:cNvSpPr txBox="1"/>
              <p:nvPr/>
            </p:nvSpPr>
            <p:spPr>
              <a:xfrm>
                <a:off x="9352357" y="6951833"/>
                <a:ext cx="6488160" cy="40011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https://github.com/cepdnaclk/e22-co2060-PERA-SAM</a:t>
                </a:r>
              </a:p>
            </p:txBody>
          </p:sp>
          <p:sp>
            <p:nvSpPr>
              <p:cNvPr id="5" name="TextBox 9">
                <a:extLst>
                  <a:ext uri="{FF2B5EF4-FFF2-40B4-BE49-F238E27FC236}">
                    <a16:creationId xmlns:a16="http://schemas.microsoft.com/office/drawing/2014/main" id="{FE53C857-7C7E-DF77-B214-9D8E04490760}"/>
                  </a:ext>
                </a:extLst>
              </p:cNvPr>
              <p:cNvSpPr txBox="1"/>
              <p:nvPr/>
            </p:nvSpPr>
            <p:spPr>
              <a:xfrm>
                <a:off x="7985397" y="7544428"/>
                <a:ext cx="4320904" cy="47846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068"/>
                  </a:lnSpc>
                  <a:spcBef>
                    <a:spcPct val="0"/>
                  </a:spcBef>
                </a:pPr>
                <a:r>
                  <a:rPr lang="en-US" sz="2800" dirty="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Visit Our Project Page:</a:t>
                </a:r>
              </a:p>
            </p:txBody>
          </p:sp>
          <p:sp>
            <p:nvSpPr>
              <p:cNvPr id="15" name="TextBox 14">
                <a:hlinkClick r:id="rId6"/>
                <a:extLst>
                  <a:ext uri="{FF2B5EF4-FFF2-40B4-BE49-F238E27FC236}">
                    <a16:creationId xmlns:a16="http://schemas.microsoft.com/office/drawing/2014/main" id="{C87FD770-2322-C0BE-277E-77C91721C9C9}"/>
                  </a:ext>
                </a:extLst>
              </p:cNvPr>
              <p:cNvSpPr txBox="1"/>
              <p:nvPr/>
            </p:nvSpPr>
            <p:spPr>
              <a:xfrm>
                <a:off x="9321877" y="8156337"/>
                <a:ext cx="7137323" cy="40011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 https://https://cepdnaclk.github.io/e22-co2060-PERA-SAM</a:t>
                </a: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EF4744-5D1D-C98E-6F02-893880F2BACA}"/>
              </a:ext>
            </a:extLst>
          </p:cNvPr>
          <p:cNvGrpSpPr/>
          <p:nvPr/>
        </p:nvGrpSpPr>
        <p:grpSpPr>
          <a:xfrm>
            <a:off x="276498" y="5095984"/>
            <a:ext cx="5322148" cy="4651949"/>
            <a:chOff x="132642" y="2821810"/>
            <a:chExt cx="6003893" cy="5592982"/>
          </a:xfrm>
        </p:grpSpPr>
        <p:sp>
          <p:nvSpPr>
            <p:cNvPr id="4" name="Freeform 4"/>
            <p:cNvSpPr/>
            <p:nvPr/>
          </p:nvSpPr>
          <p:spPr>
            <a:xfrm rot="-5400000">
              <a:off x="586179" y="2864436"/>
              <a:ext cx="5096819" cy="6003893"/>
            </a:xfrm>
            <a:custGeom>
              <a:avLst/>
              <a:gdLst/>
              <a:ahLst/>
              <a:cxnLst/>
              <a:rect l="l" t="t" r="r" b="b"/>
              <a:pathLst>
                <a:path w="4922989" h="7871058">
                  <a:moveTo>
                    <a:pt x="0" y="0"/>
                  </a:moveTo>
                  <a:lnTo>
                    <a:pt x="4922989" y="0"/>
                  </a:lnTo>
                  <a:lnTo>
                    <a:pt x="4922989" y="7871058"/>
                  </a:lnTo>
                  <a:lnTo>
                    <a:pt x="0" y="7871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A34198B-7F91-CEB3-3C7B-00D379B82978}"/>
                </a:ext>
              </a:extLst>
            </p:cNvPr>
            <p:cNvSpPr txBox="1"/>
            <p:nvPr/>
          </p:nvSpPr>
          <p:spPr>
            <a:xfrm>
              <a:off x="610764" y="2821810"/>
              <a:ext cx="1539186" cy="44404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Visit Us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1D29462-565F-2ED5-9400-2E06D306C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966" y="3499156"/>
              <a:ext cx="4521143" cy="4521144"/>
            </a:xfrm>
            <a:prstGeom prst="round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2FA231E-5B2E-249D-4502-E172DD8DC2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70563" y="5902705"/>
            <a:ext cx="4239089" cy="3322643"/>
          </a:xfrm>
          <a:prstGeom prst="roundRect">
            <a:avLst>
              <a:gd name="adj" fmla="val 9161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E6F399-9938-F0AF-F876-D2A4737610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4882320" y="2376441"/>
            <a:ext cx="9213388" cy="3499267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74194D4-BBFA-151F-BCB6-CC26F9CD0025}"/>
              </a:ext>
            </a:extLst>
          </p:cNvPr>
          <p:cNvGrpSpPr/>
          <p:nvPr/>
        </p:nvGrpSpPr>
        <p:grpSpPr>
          <a:xfrm>
            <a:off x="522700" y="397466"/>
            <a:ext cx="2378478" cy="742265"/>
            <a:chOff x="1711939" y="1306549"/>
            <a:chExt cx="2378478" cy="742265"/>
          </a:xfrm>
        </p:grpSpPr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09D4092A-5BD1-F1FF-8397-B79620D2D41E}"/>
                </a:ext>
              </a:extLst>
            </p:cNvPr>
            <p:cNvSpPr/>
            <p:nvPr/>
          </p:nvSpPr>
          <p:spPr>
            <a:xfrm>
              <a:off x="1711939" y="1306549"/>
              <a:ext cx="742265" cy="742265"/>
            </a:xfrm>
            <a:custGeom>
              <a:avLst/>
              <a:gdLst/>
              <a:ahLst/>
              <a:cxnLst/>
              <a:rect l="l" t="t" r="r" b="b"/>
              <a:pathLst>
                <a:path w="742265" h="742265">
                  <a:moveTo>
                    <a:pt x="0" y="0"/>
                  </a:moveTo>
                  <a:lnTo>
                    <a:pt x="742264" y="0"/>
                  </a:lnTo>
                  <a:lnTo>
                    <a:pt x="742264" y="742265"/>
                  </a:lnTo>
                  <a:lnTo>
                    <a:pt x="0" y="74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10">
              <a:extLst>
                <a:ext uri="{FF2B5EF4-FFF2-40B4-BE49-F238E27FC236}">
                  <a16:creationId xmlns:a16="http://schemas.microsoft.com/office/drawing/2014/main" id="{31902CDE-3B77-B40B-D851-7DBB8553FBD4}"/>
                </a:ext>
              </a:extLst>
            </p:cNvPr>
            <p:cNvSpPr txBox="1"/>
            <p:nvPr/>
          </p:nvSpPr>
          <p:spPr>
            <a:xfrm>
              <a:off x="2671600" y="1560342"/>
              <a:ext cx="1418817" cy="263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67"/>
                </a:lnSpc>
                <a:spcBef>
                  <a:spcPct val="0"/>
                </a:spcBef>
              </a:pPr>
              <a:r>
                <a:rPr lang="en-US" sz="1950" dirty="0">
                  <a:solidFill>
                    <a:srgbClr val="FFFFFF"/>
                  </a:solidFill>
                  <a:latin typeface="TT Lakes Neue"/>
                  <a:ea typeface="TT Lakes Neue"/>
                  <a:cs typeface="TT Lakes Neue"/>
                  <a:sym typeface="TT Lakes Neue"/>
                </a:rPr>
                <a:t>INVICTUS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31F40">
                <a:alpha val="100000"/>
              </a:srgbClr>
            </a:gs>
            <a:gs pos="100000">
              <a:srgbClr val="3D6D81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693" y="-258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-5400000">
            <a:off x="5045496" y="-1312900"/>
            <a:ext cx="8318394" cy="13299759"/>
          </a:xfrm>
          <a:custGeom>
            <a:avLst/>
            <a:gdLst/>
            <a:ahLst/>
            <a:cxnLst/>
            <a:rect l="l" t="t" r="r" b="b"/>
            <a:pathLst>
              <a:path w="8318394" h="13299759">
                <a:moveTo>
                  <a:pt x="0" y="0"/>
                </a:moveTo>
                <a:lnTo>
                  <a:pt x="8318394" y="0"/>
                </a:lnTo>
                <a:lnTo>
                  <a:pt x="8318394" y="13299759"/>
                </a:lnTo>
                <a:lnTo>
                  <a:pt x="0" y="13299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2494121" y="857710"/>
            <a:ext cx="1789958" cy="1757413"/>
          </a:xfrm>
          <a:custGeom>
            <a:avLst/>
            <a:gdLst/>
            <a:ahLst/>
            <a:cxnLst/>
            <a:rect l="l" t="t" r="r" b="b"/>
            <a:pathLst>
              <a:path w="1789958" h="1757413">
                <a:moveTo>
                  <a:pt x="0" y="0"/>
                </a:moveTo>
                <a:lnTo>
                  <a:pt x="1789958" y="0"/>
                </a:lnTo>
                <a:lnTo>
                  <a:pt x="1789958" y="1757413"/>
                </a:lnTo>
                <a:lnTo>
                  <a:pt x="0" y="17574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50" name="Graphic 49" descr="A brushstroke">
            <a:extLst>
              <a:ext uri="{FF2B5EF4-FFF2-40B4-BE49-F238E27FC236}">
                <a16:creationId xmlns:a16="http://schemas.microsoft.com/office/drawing/2014/main" id="{C63218B2-D886-44B4-A702-995A53951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2600" y="7292887"/>
            <a:ext cx="11277600" cy="3858629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C3EEFE40-8C11-4453-C0CF-0AC2FB150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822900">
            <a:off x="7687083" y="2650646"/>
            <a:ext cx="2903521" cy="2149979"/>
          </a:xfrm>
          <a:prstGeom prst="rect">
            <a:avLst/>
          </a:prstGeom>
        </p:spPr>
      </p:pic>
      <p:pic>
        <p:nvPicPr>
          <p:cNvPr id="55" name="Graphic 54" descr="Back outline">
            <a:extLst>
              <a:ext uri="{FF2B5EF4-FFF2-40B4-BE49-F238E27FC236}">
                <a16:creationId xmlns:a16="http://schemas.microsoft.com/office/drawing/2014/main" id="{0642CE0F-EA84-AE62-2C6E-458DB06EB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750559" flipH="1">
            <a:off x="6256888" y="3411326"/>
            <a:ext cx="2607330" cy="1930658"/>
          </a:xfrm>
          <a:prstGeom prst="rect">
            <a:avLst/>
          </a:prstGeom>
        </p:spPr>
      </p:pic>
      <p:pic>
        <p:nvPicPr>
          <p:cNvPr id="56" name="Graphic 55" descr="Back outline">
            <a:extLst>
              <a:ext uri="{FF2B5EF4-FFF2-40B4-BE49-F238E27FC236}">
                <a16:creationId xmlns:a16="http://schemas.microsoft.com/office/drawing/2014/main" id="{CA76F55B-E337-0C20-389C-1B8A864B55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3348345" flipH="1" flipV="1">
            <a:off x="2923543" y="4851183"/>
            <a:ext cx="2607330" cy="1930658"/>
          </a:xfrm>
          <a:prstGeom prst="rect">
            <a:avLst/>
          </a:prstGeom>
        </p:spPr>
      </p:pic>
      <p:pic>
        <p:nvPicPr>
          <p:cNvPr id="52" name="Graphic 51" descr="Back outline">
            <a:extLst>
              <a:ext uri="{FF2B5EF4-FFF2-40B4-BE49-F238E27FC236}">
                <a16:creationId xmlns:a16="http://schemas.microsoft.com/office/drawing/2014/main" id="{EF459712-7ABE-FFF1-8819-8623BF4E4D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13886" y="4488166"/>
            <a:ext cx="2545182" cy="16290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7480C8-0B1F-741C-1A80-581C985080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131" y="3392864"/>
            <a:ext cx="8229600" cy="54864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CFD626-9B17-8910-8EB2-63D89ACBE243}"/>
              </a:ext>
            </a:extLst>
          </p:cNvPr>
          <p:cNvSpPr txBox="1"/>
          <p:nvPr/>
        </p:nvSpPr>
        <p:spPr>
          <a:xfrm>
            <a:off x="4183511" y="7696721"/>
            <a:ext cx="6754083" cy="186204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1500" b="1" i="0" spc="300" dirty="0">
                <a:ln w="22225">
                  <a:noFill/>
                  <a:prstDash val="solid"/>
                </a:ln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7000">
                      <a:schemeClr val="tx1">
                        <a:lumMod val="65000"/>
                        <a:lumOff val="35000"/>
                      </a:schemeClr>
                    </a:gs>
                    <a:gs pos="4900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Agency FB" panose="020B0503020202020204" pitchFamily="34" charset="0"/>
              </a:rPr>
              <a:t>PERA-SAM</a:t>
            </a:r>
            <a:endParaRPr lang="en-US" sz="11500" b="1" spc="300" dirty="0">
              <a:ln w="22225">
                <a:noFill/>
                <a:prstDash val="solid"/>
              </a:ln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7000">
                    <a:schemeClr val="tx1">
                      <a:lumMod val="65000"/>
                      <a:lumOff val="35000"/>
                    </a:schemeClr>
                  </a:gs>
                  <a:gs pos="49000">
                    <a:schemeClr val="bg1">
                      <a:lumMod val="85000"/>
                    </a:schemeClr>
                  </a:gs>
                  <a:gs pos="100000">
                    <a:schemeClr val="bg1">
                      <a:lumMod val="95000"/>
                    </a:schemeClr>
                  </a:gs>
                </a:gsLst>
                <a:lin ang="16200000" scaled="1"/>
                <a:tileRect/>
              </a:gra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CF67B-9766-F226-CDC1-62F332FCB733}"/>
              </a:ext>
            </a:extLst>
          </p:cNvPr>
          <p:cNvSpPr txBox="1"/>
          <p:nvPr/>
        </p:nvSpPr>
        <p:spPr>
          <a:xfrm>
            <a:off x="12172757" y="4855957"/>
            <a:ext cx="2716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i="0" cap="all" dirty="0">
                <a:solidFill>
                  <a:srgbClr val="FFFFFF"/>
                </a:solidFill>
                <a:effectLst/>
                <a:latin typeface="TT Lakes Neue" panose="020B0604020202020204" charset="0"/>
              </a:rPr>
              <a:t>Bhagya </a:t>
            </a:r>
            <a:endParaRPr lang="en-US" b="1" cap="all" dirty="0">
              <a:effectLst/>
              <a:latin typeface="TT Lakes Neue" panose="020B0604020202020204" charset="0"/>
            </a:endParaRPr>
          </a:p>
          <a:p>
            <a:pPr rtl="0">
              <a:buNone/>
            </a:pPr>
            <a:r>
              <a:rPr lang="en-US" b="1" i="0" cap="all" dirty="0">
                <a:solidFill>
                  <a:srgbClr val="FFFFFF"/>
                </a:solidFill>
                <a:effectLst/>
                <a:latin typeface="TT Lakes Neue" panose="020B0604020202020204" charset="0"/>
              </a:rPr>
              <a:t>            karunanayake</a:t>
            </a:r>
            <a:endParaRPr lang="en-US" b="1" cap="all" dirty="0">
              <a:effectLst/>
              <a:latin typeface="TT Lakes Neue" panose="020B060402020202020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577809-C2A8-8761-953F-272701197BBA}"/>
              </a:ext>
            </a:extLst>
          </p:cNvPr>
          <p:cNvSpPr txBox="1"/>
          <p:nvPr/>
        </p:nvSpPr>
        <p:spPr>
          <a:xfrm>
            <a:off x="12945378" y="5423914"/>
            <a:ext cx="1662804" cy="3693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u="sng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 Portfolio</a:t>
            </a:r>
            <a:endParaRPr lang="en-US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BF5C3F-E1A9-05F6-437C-721EBAD3179B}"/>
              </a:ext>
            </a:extLst>
          </p:cNvPr>
          <p:cNvSpPr txBox="1"/>
          <p:nvPr/>
        </p:nvSpPr>
        <p:spPr>
          <a:xfrm>
            <a:off x="9667014" y="2266006"/>
            <a:ext cx="266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i="0" cap="all" dirty="0" err="1">
                <a:solidFill>
                  <a:srgbClr val="FFFFFF"/>
                </a:solidFill>
                <a:effectLst/>
                <a:latin typeface="TT Lakes Neue" panose="020B0604020202020204" charset="0"/>
              </a:rPr>
              <a:t>Dileka</a:t>
            </a:r>
            <a:endParaRPr lang="en-US" cap="all" dirty="0">
              <a:effectLst/>
              <a:latin typeface="TT Lakes Neue" panose="020B0604020202020204" charset="0"/>
            </a:endParaRPr>
          </a:p>
          <a:p>
            <a:pPr rtl="0">
              <a:buNone/>
            </a:pPr>
            <a:r>
              <a:rPr lang="en-US" b="1" i="0" cap="all" dirty="0">
                <a:solidFill>
                  <a:srgbClr val="FFFFFF"/>
                </a:solidFill>
                <a:effectLst/>
                <a:latin typeface="TT Lakes Neue" panose="020B0604020202020204" charset="0"/>
              </a:rPr>
              <a:t>          </a:t>
            </a:r>
            <a:r>
              <a:rPr lang="en-US" b="1" i="0" cap="all" dirty="0" err="1">
                <a:solidFill>
                  <a:srgbClr val="FFFFFF"/>
                </a:solidFill>
                <a:effectLst/>
                <a:latin typeface="TT Lakes Neue" panose="020B0604020202020204" charset="0"/>
              </a:rPr>
              <a:t>sandaruwan</a:t>
            </a:r>
            <a:endParaRPr lang="en-US" cap="all" dirty="0">
              <a:effectLst/>
              <a:latin typeface="TT Lakes Neue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DEDF13-7B36-167A-8C16-6A806474AE9C}"/>
              </a:ext>
            </a:extLst>
          </p:cNvPr>
          <p:cNvSpPr txBox="1"/>
          <p:nvPr/>
        </p:nvSpPr>
        <p:spPr>
          <a:xfrm>
            <a:off x="9869343" y="2866171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u="sng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 Portfolio</a:t>
            </a:r>
            <a:endParaRPr lang="en-US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A152DA-7D78-628C-E34F-6BC463B92BA2}"/>
              </a:ext>
            </a:extLst>
          </p:cNvPr>
          <p:cNvSpPr txBox="1"/>
          <p:nvPr/>
        </p:nvSpPr>
        <p:spPr>
          <a:xfrm>
            <a:off x="5025327" y="2505287"/>
            <a:ext cx="2363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i="0" cap="all" dirty="0">
                <a:solidFill>
                  <a:srgbClr val="FFFFFF"/>
                </a:solidFill>
                <a:effectLst/>
                <a:latin typeface="TT Lakes Neue" panose="020B0604020202020204" charset="0"/>
              </a:rPr>
              <a:t>Dhanushka </a:t>
            </a:r>
            <a:endParaRPr lang="en-US" cap="all" dirty="0">
              <a:effectLst/>
              <a:latin typeface="TT Lakes Neue" panose="020B0604020202020204" charset="0"/>
            </a:endParaRPr>
          </a:p>
          <a:p>
            <a:pPr rtl="0">
              <a:buNone/>
            </a:pPr>
            <a:r>
              <a:rPr lang="en-US" b="1" i="0" cap="all" dirty="0">
                <a:solidFill>
                  <a:srgbClr val="FFFFFF"/>
                </a:solidFill>
                <a:effectLst/>
                <a:latin typeface="TT Lakes Neue" panose="020B0604020202020204" charset="0"/>
              </a:rPr>
              <a:t>              </a:t>
            </a:r>
            <a:r>
              <a:rPr lang="en-US" b="1" i="0" cap="all" dirty="0" err="1">
                <a:solidFill>
                  <a:srgbClr val="FFFFFF"/>
                </a:solidFill>
                <a:effectLst/>
                <a:latin typeface="TT Lakes Neue" panose="020B0604020202020204" charset="0"/>
              </a:rPr>
              <a:t>kavindaya</a:t>
            </a:r>
            <a:endParaRPr lang="en-US" cap="all" dirty="0">
              <a:effectLst/>
              <a:latin typeface="TT Lakes Neue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6D3C93-CCB2-2B9E-FE97-CFEDB458D8E3}"/>
              </a:ext>
            </a:extLst>
          </p:cNvPr>
          <p:cNvSpPr txBox="1"/>
          <p:nvPr/>
        </p:nvSpPr>
        <p:spPr>
          <a:xfrm>
            <a:off x="5484959" y="3086593"/>
            <a:ext cx="182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u="sng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 Portfolio</a:t>
            </a:r>
            <a:endParaRPr lang="en-US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041156-53F0-2D0D-B976-3B4F5DE29955}"/>
              </a:ext>
            </a:extLst>
          </p:cNvPr>
          <p:cNvSpPr txBox="1"/>
          <p:nvPr/>
        </p:nvSpPr>
        <p:spPr>
          <a:xfrm>
            <a:off x="3333646" y="4590834"/>
            <a:ext cx="167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u="sng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 Portfolio</a:t>
            </a:r>
            <a:endParaRPr lang="en-US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9EE98B18-65E1-EA7E-F518-59FEB9911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06753C-257E-59FE-3820-42A837E337EC}"/>
              </a:ext>
            </a:extLst>
          </p:cNvPr>
          <p:cNvSpPr txBox="1"/>
          <p:nvPr/>
        </p:nvSpPr>
        <p:spPr>
          <a:xfrm>
            <a:off x="2995662" y="3915553"/>
            <a:ext cx="182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b="1" i="0" cap="all" dirty="0">
                <a:solidFill>
                  <a:schemeClr val="bg1"/>
                </a:solidFill>
                <a:effectLst/>
                <a:latin typeface="TT Lakes Neue" panose="020B0604020202020204" charset="0"/>
              </a:rPr>
              <a:t>Pahan</a:t>
            </a:r>
            <a:endParaRPr lang="en-US" b="1" cap="all" dirty="0">
              <a:solidFill>
                <a:schemeClr val="bg1"/>
              </a:solidFill>
              <a:effectLst/>
              <a:latin typeface="TT Lakes Neue" panose="020B0604020202020204" charset="0"/>
            </a:endParaRPr>
          </a:p>
          <a:p>
            <a:pPr rtl="0">
              <a:buNone/>
            </a:pPr>
            <a:r>
              <a:rPr lang="en-US" b="1" i="0" cap="all" dirty="0">
                <a:solidFill>
                  <a:schemeClr val="bg1"/>
                </a:solidFill>
                <a:effectLst/>
                <a:latin typeface="TT Lakes Neue" panose="020B0604020202020204" charset="0"/>
              </a:rPr>
              <a:t>          </a:t>
            </a:r>
            <a:r>
              <a:rPr lang="en-US" b="1" i="0" cap="all" dirty="0" err="1">
                <a:solidFill>
                  <a:schemeClr val="bg1"/>
                </a:solidFill>
                <a:effectLst/>
                <a:latin typeface="TT Lakes Neue" panose="020B0604020202020204" charset="0"/>
              </a:rPr>
              <a:t>prabash</a:t>
            </a:r>
            <a:endParaRPr lang="en-US" b="1" cap="all" dirty="0">
              <a:solidFill>
                <a:schemeClr val="bg1"/>
              </a:solidFill>
              <a:effectLst/>
              <a:latin typeface="TT Lakes Neue" panose="020B0604020202020204" charset="0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C5E426CE-5AE5-2FAA-E5BC-FA54915127B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423" y="7817387"/>
            <a:ext cx="2204656" cy="2204656"/>
          </a:xfrm>
          <a:prstGeom prst="roundRect">
            <a:avLst>
              <a:gd name="adj" fmla="val 5000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93D5642-D811-6591-9F6F-6C66D3F979C4}"/>
              </a:ext>
            </a:extLst>
          </p:cNvPr>
          <p:cNvSpPr txBox="1"/>
          <p:nvPr/>
        </p:nvSpPr>
        <p:spPr>
          <a:xfrm>
            <a:off x="13090892" y="5770176"/>
            <a:ext cx="166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E/22/184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52658E-0728-7569-3ABE-6875277476C7}"/>
              </a:ext>
            </a:extLst>
          </p:cNvPr>
          <p:cNvSpPr txBox="1"/>
          <p:nvPr/>
        </p:nvSpPr>
        <p:spPr>
          <a:xfrm>
            <a:off x="10251279" y="3208198"/>
            <a:ext cx="166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E/22/336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DCBC6F-814A-72EC-BAFB-3CF2BAFBC58F}"/>
              </a:ext>
            </a:extLst>
          </p:cNvPr>
          <p:cNvSpPr txBox="1"/>
          <p:nvPr/>
        </p:nvSpPr>
        <p:spPr>
          <a:xfrm>
            <a:off x="5706613" y="3400951"/>
            <a:ext cx="166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E/22/188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FB67F1-0B6E-2E1A-2348-A7157FDBD53E}"/>
              </a:ext>
            </a:extLst>
          </p:cNvPr>
          <p:cNvSpPr txBox="1"/>
          <p:nvPr/>
        </p:nvSpPr>
        <p:spPr>
          <a:xfrm>
            <a:off x="3993060" y="4887698"/>
            <a:ext cx="1662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E/22/396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C05E7-0B75-9CF6-8ABC-3F6B30F3B24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7399" y="7713633"/>
            <a:ext cx="2331262" cy="2331262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3847</TotalTime>
  <Words>506</Words>
  <Application>Microsoft Office PowerPoint</Application>
  <PresentationFormat>Custom</PresentationFormat>
  <Paragraphs>132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TT Lakes Neue Bold</vt:lpstr>
      <vt:lpstr>Aparajita</vt:lpstr>
      <vt:lpstr>Times New Roman</vt:lpstr>
      <vt:lpstr>Agency FB</vt:lpstr>
      <vt:lpstr>Wingdings</vt:lpstr>
      <vt:lpstr>Calibri</vt:lpstr>
      <vt:lpstr>TT Lakes Neue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AI Technology Presentation</dc:title>
  <cp:lastModifiedBy>Bhagya Karunanayake</cp:lastModifiedBy>
  <cp:revision>19</cp:revision>
  <dcterms:created xsi:type="dcterms:W3CDTF">2006-08-16T00:00:00Z</dcterms:created>
  <dcterms:modified xsi:type="dcterms:W3CDTF">2026-05-02T18:41:41Z</dcterms:modified>
  <dc:identifier>DAHAkF_XYV4</dc:identifier>
</cp:coreProperties>
</file>